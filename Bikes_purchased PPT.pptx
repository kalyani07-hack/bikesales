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4"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embeddedFontLst>
    <p:embeddedFont>
      <p:font typeface="Raleway" panose="020B0604020202020204" charset="0"/>
      <p:regular r:id="rId16"/>
      <p:bold r:id="rId17"/>
      <p:italic r:id="rId18"/>
      <p:boldItalic r:id="rId19"/>
    </p:embeddedFont>
    <p:embeddedFont>
      <p:font typeface="Oswald" panose="020B0604020202020204" charset="0"/>
      <p:regular r:id="rId20"/>
      <p:bold r:id="rId21"/>
    </p:embeddedFont>
    <p:embeddedFont>
      <p:font typeface="Roboto Light" panose="020B0604020202020204" charset="0"/>
      <p:regular r:id="rId22"/>
      <p:bold r:id="rId23"/>
      <p:italic r:id="rId24"/>
      <p:boldItalic r:id="rId25"/>
    </p:embeddedFont>
    <p:embeddedFont>
      <p:font typeface="Lato" panose="020B0604020202020204" charset="0"/>
      <p:regular r:id="rId26"/>
      <p:bold r:id="rId27"/>
      <p:italic r:id="rId28"/>
      <p:boldItalic r:id="rId29"/>
    </p:embeddedFont>
    <p:embeddedFont>
      <p:font typeface="Oswald Medium" panose="020B0604020202020204" charset="0"/>
      <p:regular r:id="rId30"/>
      <p:bold r:id="rId31"/>
    </p:embeddedFont>
    <p:embeddedFont>
      <p:font typeface="Roboto" panose="020B060402020202020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8" d="100"/>
          <a:sy n="88" d="100"/>
        </p:scale>
        <p:origin x="660" y="5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6.fntdata"/><Relationship Id="rId34" Type="http://schemas.openxmlformats.org/officeDocument/2006/relationships/font" Target="fonts/font1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font" Target="fonts/font2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160322164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e3e2589b5f_0_3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e3e2589b5f_0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12012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1f88252dc4_0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1f88252dc4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21685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1f88252dc4_0_2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1f88252dc4_0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6703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f88252dc4_0_2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1f88252dc4_0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1523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1f88252dc4_0_3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1f88252dc4_0_3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39831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1f88252dc4_0_6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1f88252dc4_0_6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700895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1f88252dc4_0_6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1f88252dc4_0_6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02878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1f88252dc4_0_7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1f88252dc4_0_7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50952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1f88252dc4_0_10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f88252dc4_0_10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67354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1f88252dc4_0_11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1f88252dc4_0_1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97726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1f88252dc4_0_1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1f88252dc4_0_1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03401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1f88252dc4_0_1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f88252dc4_0_1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11440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f88252dc4_0_15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f88252dc4_0_1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06588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pic>
        <p:nvPicPr>
          <p:cNvPr id="10" name="Google Shape;10;p2" descr="shutterstock_429987889_edited.jpg"/>
          <p:cNvPicPr preferRelativeResize="0"/>
          <p:nvPr/>
        </p:nvPicPr>
        <p:blipFill rotWithShape="1">
          <a:blip r:embed="rId2">
            <a:alphaModFix/>
          </a:blip>
          <a:srcRect t="21799" b="23591"/>
          <a:stretch/>
        </p:blipFill>
        <p:spPr>
          <a:xfrm>
            <a:off x="0" y="487825"/>
            <a:ext cx="9144000" cy="4655676"/>
          </a:xfrm>
          <a:prstGeom prst="rect">
            <a:avLst/>
          </a:prstGeom>
          <a:noFill/>
          <a:ln>
            <a:noFill/>
          </a:ln>
        </p:spPr>
      </p:pic>
      <p:sp>
        <p:nvSpPr>
          <p:cNvPr id="11" name="Google Shape;11;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 name="Google Shape;12;p2"/>
          <p:cNvGrpSpPr/>
          <p:nvPr/>
        </p:nvGrpSpPr>
        <p:grpSpPr>
          <a:xfrm>
            <a:off x="830392" y="1191256"/>
            <a:ext cx="745763" cy="45826"/>
            <a:chOff x="4580561" y="2589004"/>
            <a:chExt cx="1064464" cy="25200"/>
          </a:xfrm>
        </p:grpSpPr>
        <p:sp>
          <p:nvSpPr>
            <p:cNvPr id="13" name="Google Shape;13;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Google Shape;15;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a:endParaRPr/>
          </a:p>
        </p:txBody>
      </p:sp>
      <p:sp>
        <p:nvSpPr>
          <p:cNvPr id="16" name="Google Shape;16;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7" name="Google Shape;17;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8" name="Google Shape;18;p2"/>
          <p:cNvSpPr txBox="1"/>
          <p:nvPr/>
        </p:nvSpPr>
        <p:spPr>
          <a:xfrm>
            <a:off x="226550" y="78500"/>
            <a:ext cx="998100" cy="321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600">
                <a:latin typeface="Raleway"/>
                <a:ea typeface="Raleway"/>
                <a:cs typeface="Raleway"/>
                <a:sym typeface="Raleway"/>
              </a:rPr>
              <a:t>Confidential</a:t>
            </a:r>
            <a:endParaRPr sz="600" b="1">
              <a:latin typeface="Raleway"/>
              <a:ea typeface="Raleway"/>
              <a:cs typeface="Raleway"/>
              <a:sym typeface="Raleway"/>
            </a:endParaRPr>
          </a:p>
        </p:txBody>
      </p:sp>
      <p:sp>
        <p:nvSpPr>
          <p:cNvPr id="19" name="Google Shape;19;p2"/>
          <p:cNvSpPr txBox="1"/>
          <p:nvPr/>
        </p:nvSpPr>
        <p:spPr>
          <a:xfrm>
            <a:off x="1296767" y="78500"/>
            <a:ext cx="2100600" cy="321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600">
                <a:latin typeface="Raleway"/>
                <a:ea typeface="Raleway"/>
                <a:cs typeface="Raleway"/>
                <a:sym typeface="Raleway"/>
              </a:rPr>
              <a:t>Customized for </a:t>
            </a:r>
            <a:r>
              <a:rPr lang="en-GB" sz="600" b="1">
                <a:latin typeface="Raleway"/>
                <a:ea typeface="Raleway"/>
                <a:cs typeface="Raleway"/>
                <a:sym typeface="Raleway"/>
              </a:rPr>
              <a:t>Lorem Ipsum LLC</a:t>
            </a:r>
            <a:endParaRPr sz="600">
              <a:latin typeface="Raleway"/>
              <a:ea typeface="Raleway"/>
              <a:cs typeface="Raleway"/>
              <a:sym typeface="Raleway"/>
            </a:endParaRPr>
          </a:p>
        </p:txBody>
      </p:sp>
      <p:sp>
        <p:nvSpPr>
          <p:cNvPr id="20" name="Google Shape;20;p2"/>
          <p:cNvSpPr txBox="1"/>
          <p:nvPr/>
        </p:nvSpPr>
        <p:spPr>
          <a:xfrm>
            <a:off x="8213935" y="78500"/>
            <a:ext cx="705900" cy="3219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GB" sz="600">
                <a:latin typeface="Raleway"/>
                <a:ea typeface="Raleway"/>
                <a:cs typeface="Raleway"/>
                <a:sym typeface="Raleway"/>
              </a:rPr>
              <a:t>Version 1.0</a:t>
            </a:r>
            <a:endParaRPr sz="600" b="1">
              <a:latin typeface="Raleway"/>
              <a:ea typeface="Raleway"/>
              <a:cs typeface="Raleway"/>
              <a:sym typeface="Raleway"/>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_alt1">
  <p:cSld name="TITLE_1">
    <p:bg>
      <p:bgPr>
        <a:solidFill>
          <a:schemeClr val="lt2"/>
        </a:solidFill>
        <a:effectLst/>
      </p:bgPr>
    </p:bg>
    <p:spTree>
      <p:nvGrpSpPr>
        <p:cNvPr id="1" name="Shape 21"/>
        <p:cNvGrpSpPr/>
        <p:nvPr/>
      </p:nvGrpSpPr>
      <p:grpSpPr>
        <a:xfrm>
          <a:off x="0" y="0"/>
          <a:ext cx="0" cy="0"/>
          <a:chOff x="0" y="0"/>
          <a:chExt cx="0" cy="0"/>
        </a:xfrm>
      </p:grpSpPr>
      <p:pic>
        <p:nvPicPr>
          <p:cNvPr id="22" name="Google Shape;22;p3" descr="shutterstock_429987889_edited.jpg"/>
          <p:cNvPicPr preferRelativeResize="0"/>
          <p:nvPr/>
        </p:nvPicPr>
        <p:blipFill rotWithShape="1">
          <a:blip r:embed="rId2">
            <a:alphaModFix/>
          </a:blip>
          <a:srcRect t="21799" b="23591"/>
          <a:stretch/>
        </p:blipFill>
        <p:spPr>
          <a:xfrm>
            <a:off x="0" y="487825"/>
            <a:ext cx="9144000" cy="4655676"/>
          </a:xfrm>
          <a:prstGeom prst="rect">
            <a:avLst/>
          </a:prstGeom>
          <a:noFill/>
          <a:ln>
            <a:noFill/>
          </a:ln>
        </p:spPr>
      </p:pic>
      <p:sp>
        <p:nvSpPr>
          <p:cNvPr id="23" name="Google Shape;23;p3"/>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 name="Google Shape;24;p3"/>
          <p:cNvGrpSpPr/>
          <p:nvPr/>
        </p:nvGrpSpPr>
        <p:grpSpPr>
          <a:xfrm>
            <a:off x="830392" y="1191256"/>
            <a:ext cx="745763" cy="45826"/>
            <a:chOff x="4580561" y="2589004"/>
            <a:chExt cx="1064464" cy="25200"/>
          </a:xfrm>
        </p:grpSpPr>
        <p:sp>
          <p:nvSpPr>
            <p:cNvPr id="25" name="Google Shape;25;p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 name="Google Shape;27;p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a:endParaRPr/>
          </a:p>
        </p:txBody>
      </p:sp>
      <p:sp>
        <p:nvSpPr>
          <p:cNvPr id="28" name="Google Shape;28;p3"/>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29" name="Google Shape;29;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30" name="Google Shape;30;p3">
            <a:hlinkClick r:id="rId3" action="ppaction://hlinksldjump"/>
          </p:cNvPr>
          <p:cNvSpPr/>
          <p:nvPr/>
        </p:nvSpPr>
        <p:spPr>
          <a:xfrm>
            <a:off x="8280450" y="0"/>
            <a:ext cx="863400" cy="4542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1" name="Google Shape;31;p3">
            <a:hlinkClick r:id="rId3" action="ppaction://hlinksldjump"/>
          </p:cNvPr>
          <p:cNvCxnSpPr/>
          <p:nvPr/>
        </p:nvCxnSpPr>
        <p:spPr>
          <a:xfrm>
            <a:off x="8598817" y="216350"/>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32" name="Google Shape;32;p3">
            <a:hlinkClick r:id="rId3" action="ppaction://hlinksldjump"/>
          </p:cNvPr>
          <p:cNvCxnSpPr/>
          <p:nvPr/>
        </p:nvCxnSpPr>
        <p:spPr>
          <a:xfrm>
            <a:off x="8598817" y="250138"/>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33" name="Google Shape;33;p3">
            <a:hlinkClick r:id="rId3" action="ppaction://hlinksldjump"/>
          </p:cNvPr>
          <p:cNvCxnSpPr/>
          <p:nvPr/>
        </p:nvCxnSpPr>
        <p:spPr>
          <a:xfrm>
            <a:off x="8598817" y="283925"/>
            <a:ext cx="216300" cy="0"/>
          </a:xfrm>
          <a:prstGeom prst="straightConnector1">
            <a:avLst/>
          </a:prstGeom>
          <a:noFill/>
          <a:ln w="9525" cap="flat" cmpd="sng">
            <a:solidFill>
              <a:srgbClr val="B7B7B7"/>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34"/>
        <p:cNvGrpSpPr/>
        <p:nvPr/>
      </p:nvGrpSpPr>
      <p:grpSpPr>
        <a:xfrm>
          <a:off x="0" y="0"/>
          <a:ext cx="0" cy="0"/>
          <a:chOff x="0" y="0"/>
          <a:chExt cx="0" cy="0"/>
        </a:xfrm>
      </p:grpSpPr>
      <p:grpSp>
        <p:nvGrpSpPr>
          <p:cNvPr id="35" name="Google Shape;35;p4"/>
          <p:cNvGrpSpPr/>
          <p:nvPr/>
        </p:nvGrpSpPr>
        <p:grpSpPr>
          <a:xfrm>
            <a:off x="830392" y="1191256"/>
            <a:ext cx="745763" cy="45826"/>
            <a:chOff x="4580561" y="2589004"/>
            <a:chExt cx="1064464" cy="25200"/>
          </a:xfrm>
        </p:grpSpPr>
        <p:sp>
          <p:nvSpPr>
            <p:cNvPr id="36" name="Google Shape;36;p4"/>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4"/>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 name="Google Shape;38;p4"/>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39" name="Google Shape;39;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
        <p:nvSpPr>
          <p:cNvPr id="40" name="Google Shape;40;p4">
            <a:hlinkClick r:id="rId2" action="ppaction://hlinksldjump"/>
          </p:cNvPr>
          <p:cNvSpPr/>
          <p:nvPr/>
        </p:nvSpPr>
        <p:spPr>
          <a:xfrm>
            <a:off x="8280450" y="0"/>
            <a:ext cx="863400" cy="454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4">
            <a:hlinkClick r:id="rId2" action="ppaction://hlinksldjump"/>
          </p:cNvPr>
          <p:cNvCxnSpPr/>
          <p:nvPr/>
        </p:nvCxnSpPr>
        <p:spPr>
          <a:xfrm>
            <a:off x="8598817" y="216350"/>
            <a:ext cx="216300" cy="0"/>
          </a:xfrm>
          <a:prstGeom prst="straightConnector1">
            <a:avLst/>
          </a:prstGeom>
          <a:noFill/>
          <a:ln w="9525" cap="flat" cmpd="sng">
            <a:solidFill>
              <a:schemeClr val="lt2"/>
            </a:solidFill>
            <a:prstDash val="solid"/>
            <a:round/>
            <a:headEnd type="none" w="med" len="med"/>
            <a:tailEnd type="none" w="med" len="med"/>
          </a:ln>
        </p:spPr>
      </p:cxnSp>
      <p:cxnSp>
        <p:nvCxnSpPr>
          <p:cNvPr id="42" name="Google Shape;42;p4">
            <a:hlinkClick r:id="rId2" action="ppaction://hlinksldjump"/>
          </p:cNvPr>
          <p:cNvCxnSpPr/>
          <p:nvPr/>
        </p:nvCxnSpPr>
        <p:spPr>
          <a:xfrm>
            <a:off x="8598817" y="250138"/>
            <a:ext cx="216300" cy="0"/>
          </a:xfrm>
          <a:prstGeom prst="straightConnector1">
            <a:avLst/>
          </a:prstGeom>
          <a:noFill/>
          <a:ln w="9525" cap="flat" cmpd="sng">
            <a:solidFill>
              <a:schemeClr val="lt2"/>
            </a:solidFill>
            <a:prstDash val="solid"/>
            <a:round/>
            <a:headEnd type="none" w="med" len="med"/>
            <a:tailEnd type="none" w="med" len="med"/>
          </a:ln>
        </p:spPr>
      </p:cxnSp>
      <p:cxnSp>
        <p:nvCxnSpPr>
          <p:cNvPr id="43" name="Google Shape;43;p4">
            <a:hlinkClick r:id="rId2" action="ppaction://hlinksldjump"/>
          </p:cNvPr>
          <p:cNvCxnSpPr/>
          <p:nvPr/>
        </p:nvCxnSpPr>
        <p:spPr>
          <a:xfrm>
            <a:off x="8598817" y="283925"/>
            <a:ext cx="216300" cy="0"/>
          </a:xfrm>
          <a:prstGeom prst="straightConnector1">
            <a:avLst/>
          </a:prstGeom>
          <a:noFill/>
          <a:ln w="9525" cap="flat" cmpd="sng">
            <a:solidFill>
              <a:schemeClr val="lt2"/>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4"/>
        <p:cNvGrpSpPr/>
        <p:nvPr/>
      </p:nvGrpSpPr>
      <p:grpSpPr>
        <a:xfrm>
          <a:off x="0" y="0"/>
          <a:ext cx="0" cy="0"/>
          <a:chOff x="0" y="0"/>
          <a:chExt cx="0" cy="0"/>
        </a:xfrm>
      </p:grpSpPr>
      <p:sp>
        <p:nvSpPr>
          <p:cNvPr id="45" name="Google Shape;45;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5"/>
          <p:cNvGrpSpPr/>
          <p:nvPr/>
        </p:nvGrpSpPr>
        <p:grpSpPr>
          <a:xfrm>
            <a:off x="830392" y="1191256"/>
            <a:ext cx="745763" cy="45826"/>
            <a:chOff x="4580561" y="2589004"/>
            <a:chExt cx="1064464" cy="25200"/>
          </a:xfrm>
        </p:grpSpPr>
        <p:sp>
          <p:nvSpPr>
            <p:cNvPr id="47" name="Google Shape;47;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 name="Google Shape;49;p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50" name="Google Shape;50;p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1" name="Google Shape;51;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52" name="Google Shape;52;p5">
            <a:hlinkClick r:id="rId2" action="ppaction://hlinksldjump"/>
          </p:cNvPr>
          <p:cNvSpPr/>
          <p:nvPr/>
        </p:nvSpPr>
        <p:spPr>
          <a:xfrm>
            <a:off x="8280450" y="0"/>
            <a:ext cx="863400" cy="454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 name="Google Shape;53;p5">
            <a:hlinkClick r:id="rId2" action="ppaction://hlinksldjump"/>
          </p:cNvPr>
          <p:cNvCxnSpPr/>
          <p:nvPr/>
        </p:nvCxnSpPr>
        <p:spPr>
          <a:xfrm>
            <a:off x="8598817" y="216350"/>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54" name="Google Shape;54;p5">
            <a:hlinkClick r:id="rId2" action="ppaction://hlinksldjump"/>
          </p:cNvPr>
          <p:cNvCxnSpPr/>
          <p:nvPr/>
        </p:nvCxnSpPr>
        <p:spPr>
          <a:xfrm>
            <a:off x="8598817" y="250138"/>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55" name="Google Shape;55;p5">
            <a:hlinkClick r:id="rId2" action="ppaction://hlinksldjump"/>
          </p:cNvPr>
          <p:cNvCxnSpPr/>
          <p:nvPr/>
        </p:nvCxnSpPr>
        <p:spPr>
          <a:xfrm>
            <a:off x="8598817" y="283925"/>
            <a:ext cx="216300" cy="0"/>
          </a:xfrm>
          <a:prstGeom prst="straightConnector1">
            <a:avLst/>
          </a:prstGeom>
          <a:noFill/>
          <a:ln w="9525" cap="flat" cmpd="sng">
            <a:solidFill>
              <a:srgbClr val="B7B7B7"/>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ody only">
  <p:cSld name="TITLE_AND_BODY_1">
    <p:spTree>
      <p:nvGrpSpPr>
        <p:cNvPr id="1" name="Shape 56"/>
        <p:cNvGrpSpPr/>
        <p:nvPr/>
      </p:nvGrpSpPr>
      <p:grpSpPr>
        <a:xfrm>
          <a:off x="0" y="0"/>
          <a:ext cx="0" cy="0"/>
          <a:chOff x="0" y="0"/>
          <a:chExt cx="0" cy="0"/>
        </a:xfrm>
      </p:grpSpPr>
      <p:sp>
        <p:nvSpPr>
          <p:cNvPr id="57" name="Google Shape;57;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59" name="Google Shape;59;p6">
            <a:hlinkClick r:id="rId2" action="ppaction://hlinksldjump"/>
          </p:cNvPr>
          <p:cNvSpPr/>
          <p:nvPr/>
        </p:nvSpPr>
        <p:spPr>
          <a:xfrm>
            <a:off x="8280450" y="0"/>
            <a:ext cx="863400" cy="454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0" name="Google Shape;60;p6">
            <a:hlinkClick r:id="rId2" action="ppaction://hlinksldjump"/>
          </p:cNvPr>
          <p:cNvCxnSpPr/>
          <p:nvPr/>
        </p:nvCxnSpPr>
        <p:spPr>
          <a:xfrm>
            <a:off x="8598817" y="216350"/>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61" name="Google Shape;61;p6">
            <a:hlinkClick r:id="rId2" action="ppaction://hlinksldjump"/>
          </p:cNvPr>
          <p:cNvCxnSpPr/>
          <p:nvPr/>
        </p:nvCxnSpPr>
        <p:spPr>
          <a:xfrm>
            <a:off x="8598817" y="250138"/>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62" name="Google Shape;62;p6">
            <a:hlinkClick r:id="rId2" action="ppaction://hlinksldjump"/>
          </p:cNvPr>
          <p:cNvCxnSpPr/>
          <p:nvPr/>
        </p:nvCxnSpPr>
        <p:spPr>
          <a:xfrm>
            <a:off x="8598817" y="283925"/>
            <a:ext cx="216300" cy="0"/>
          </a:xfrm>
          <a:prstGeom prst="straightConnector1">
            <a:avLst/>
          </a:prstGeom>
          <a:noFill/>
          <a:ln w="9525" cap="flat" cmpd="sng">
            <a:solidFill>
              <a:srgbClr val="B7B7B7"/>
            </a:solidFill>
            <a:prstDash val="solid"/>
            <a:round/>
            <a:headEnd type="none" w="med" len="med"/>
            <a:tailEnd type="none" w="med" len="med"/>
          </a:ln>
        </p:spPr>
      </p:cxnSp>
      <p:sp>
        <p:nvSpPr>
          <p:cNvPr id="63" name="Google Shape;63;p6"/>
          <p:cNvSpPr txBox="1">
            <a:spLocks noGrp="1"/>
          </p:cNvSpPr>
          <p:nvPr>
            <p:ph type="body" idx="1"/>
          </p:nvPr>
        </p:nvSpPr>
        <p:spPr>
          <a:xfrm>
            <a:off x="729450" y="1068650"/>
            <a:ext cx="7688700" cy="10344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_alt2">
  <p:cSld name="TITLE_AND_BODY_1_1">
    <p:spTree>
      <p:nvGrpSpPr>
        <p:cNvPr id="1" name="Shape 64"/>
        <p:cNvGrpSpPr/>
        <p:nvPr/>
      </p:nvGrpSpPr>
      <p:grpSpPr>
        <a:xfrm>
          <a:off x="0" y="0"/>
          <a:ext cx="0" cy="0"/>
          <a:chOff x="0" y="0"/>
          <a:chExt cx="0" cy="0"/>
        </a:xfrm>
      </p:grpSpPr>
      <p:pic>
        <p:nvPicPr>
          <p:cNvPr id="65" name="Google Shape;65;p7" descr="shutterstock_31891705.jpg"/>
          <p:cNvPicPr preferRelativeResize="0"/>
          <p:nvPr/>
        </p:nvPicPr>
        <p:blipFill rotWithShape="1">
          <a:blip r:embed="rId2">
            <a:alphaModFix/>
          </a:blip>
          <a:srcRect t="11971" b="11971"/>
          <a:stretch/>
        </p:blipFill>
        <p:spPr>
          <a:xfrm>
            <a:off x="0" y="487825"/>
            <a:ext cx="9143999" cy="4655673"/>
          </a:xfrm>
          <a:prstGeom prst="rect">
            <a:avLst/>
          </a:prstGeom>
          <a:noFill/>
          <a:ln>
            <a:noFill/>
          </a:ln>
        </p:spPr>
      </p:pic>
      <p:sp>
        <p:nvSpPr>
          <p:cNvPr id="66" name="Google Shape;66;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marL="0" lvl="0" indent="0" algn="r" rtl="0">
              <a:spcBef>
                <a:spcPts val="0"/>
              </a:spcBef>
              <a:spcAft>
                <a:spcPts val="0"/>
              </a:spcAft>
              <a:buNone/>
            </a:pPr>
            <a:fld id="{00000000-1234-1234-1234-123412341234}" type="slidenum">
              <a:rPr lang="en-GB"/>
              <a:t>‹#›</a:t>
            </a:fld>
            <a:endParaRPr/>
          </a:p>
        </p:txBody>
      </p:sp>
      <p:sp>
        <p:nvSpPr>
          <p:cNvPr id="68" name="Google Shape;68;p7">
            <a:hlinkClick r:id="rId3" action="ppaction://hlinksldjump"/>
          </p:cNvPr>
          <p:cNvSpPr/>
          <p:nvPr/>
        </p:nvSpPr>
        <p:spPr>
          <a:xfrm>
            <a:off x="8280450" y="0"/>
            <a:ext cx="863400" cy="454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9" name="Google Shape;69;p7">
            <a:hlinkClick r:id="rId3" action="ppaction://hlinksldjump"/>
          </p:cNvPr>
          <p:cNvCxnSpPr/>
          <p:nvPr/>
        </p:nvCxnSpPr>
        <p:spPr>
          <a:xfrm>
            <a:off x="8598817" y="216350"/>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70" name="Google Shape;70;p7">
            <a:hlinkClick r:id="rId3" action="ppaction://hlinksldjump"/>
          </p:cNvPr>
          <p:cNvCxnSpPr/>
          <p:nvPr/>
        </p:nvCxnSpPr>
        <p:spPr>
          <a:xfrm>
            <a:off x="8598817" y="250138"/>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71" name="Google Shape;71;p7">
            <a:hlinkClick r:id="rId3" action="ppaction://hlinksldjump"/>
          </p:cNvPr>
          <p:cNvCxnSpPr/>
          <p:nvPr/>
        </p:nvCxnSpPr>
        <p:spPr>
          <a:xfrm>
            <a:off x="8598817" y="283925"/>
            <a:ext cx="216300" cy="0"/>
          </a:xfrm>
          <a:prstGeom prst="straightConnector1">
            <a:avLst/>
          </a:prstGeom>
          <a:noFill/>
          <a:ln w="9525" cap="flat" cmpd="sng">
            <a:solidFill>
              <a:srgbClr val="B7B7B7"/>
            </a:solidFill>
            <a:prstDash val="solid"/>
            <a:round/>
            <a:headEnd type="none" w="med" len="med"/>
            <a:tailEnd type="none" w="med" len="med"/>
          </a:ln>
        </p:spPr>
      </p:cxnSp>
      <p:sp>
        <p:nvSpPr>
          <p:cNvPr id="72" name="Google Shape;72;p7"/>
          <p:cNvSpPr txBox="1">
            <a:spLocks noGrp="1"/>
          </p:cNvSpPr>
          <p:nvPr>
            <p:ph type="title"/>
          </p:nvPr>
        </p:nvSpPr>
        <p:spPr>
          <a:xfrm>
            <a:off x="729450" y="2056375"/>
            <a:ext cx="5887500" cy="1518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3"/>
        <p:cNvGrpSpPr/>
        <p:nvPr/>
      </p:nvGrpSpPr>
      <p:grpSpPr>
        <a:xfrm>
          <a:off x="0" y="0"/>
          <a:ext cx="0" cy="0"/>
          <a:chOff x="0" y="0"/>
          <a:chExt cx="0" cy="0"/>
        </a:xfrm>
      </p:grpSpPr>
      <p:sp>
        <p:nvSpPr>
          <p:cNvPr id="74" name="Google Shape;74;p8"/>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 name="Google Shape;75;p8"/>
          <p:cNvGrpSpPr/>
          <p:nvPr/>
        </p:nvGrpSpPr>
        <p:grpSpPr>
          <a:xfrm>
            <a:off x="830392" y="1191256"/>
            <a:ext cx="745763" cy="45826"/>
            <a:chOff x="4580561" y="2589004"/>
            <a:chExt cx="1064464" cy="25200"/>
          </a:xfrm>
        </p:grpSpPr>
        <p:sp>
          <p:nvSpPr>
            <p:cNvPr id="76" name="Google Shape;76;p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 name="Google Shape;78;p8"/>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79" name="Google Shape;79;p8"/>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80" name="Google Shape;80;p8"/>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81" name="Google Shape;81;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82" name="Google Shape;82;p8">
            <a:hlinkClick r:id="rId2" action="ppaction://hlinksldjump"/>
          </p:cNvPr>
          <p:cNvSpPr/>
          <p:nvPr/>
        </p:nvSpPr>
        <p:spPr>
          <a:xfrm>
            <a:off x="8280450" y="0"/>
            <a:ext cx="863400" cy="454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3" name="Google Shape;83;p8">
            <a:hlinkClick r:id="rId2" action="ppaction://hlinksldjump"/>
          </p:cNvPr>
          <p:cNvCxnSpPr/>
          <p:nvPr/>
        </p:nvCxnSpPr>
        <p:spPr>
          <a:xfrm>
            <a:off x="8598817" y="216350"/>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84" name="Google Shape;84;p8">
            <a:hlinkClick r:id="rId2" action="ppaction://hlinksldjump"/>
          </p:cNvPr>
          <p:cNvCxnSpPr/>
          <p:nvPr/>
        </p:nvCxnSpPr>
        <p:spPr>
          <a:xfrm>
            <a:off x="8598817" y="250138"/>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85" name="Google Shape;85;p8">
            <a:hlinkClick r:id="rId2" action="ppaction://hlinksldjump"/>
          </p:cNvPr>
          <p:cNvCxnSpPr/>
          <p:nvPr/>
        </p:nvCxnSpPr>
        <p:spPr>
          <a:xfrm>
            <a:off x="8598817" y="283925"/>
            <a:ext cx="216300" cy="0"/>
          </a:xfrm>
          <a:prstGeom prst="straightConnector1">
            <a:avLst/>
          </a:prstGeom>
          <a:noFill/>
          <a:ln w="9525" cap="flat" cmpd="sng">
            <a:solidFill>
              <a:srgbClr val="B7B7B7"/>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6"/>
        <p:cNvGrpSpPr/>
        <p:nvPr/>
      </p:nvGrpSpPr>
      <p:grpSpPr>
        <a:xfrm>
          <a:off x="0" y="0"/>
          <a:ext cx="0" cy="0"/>
          <a:chOff x="0" y="0"/>
          <a:chExt cx="0" cy="0"/>
        </a:xfrm>
      </p:grpSpPr>
      <p:sp>
        <p:nvSpPr>
          <p:cNvPr id="87" name="Google Shape;87;p9"/>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 name="Google Shape;88;p9"/>
          <p:cNvGrpSpPr/>
          <p:nvPr/>
        </p:nvGrpSpPr>
        <p:grpSpPr>
          <a:xfrm>
            <a:off x="830392" y="1191256"/>
            <a:ext cx="745763" cy="45826"/>
            <a:chOff x="4580561" y="2589004"/>
            <a:chExt cx="1064464" cy="25200"/>
          </a:xfrm>
        </p:grpSpPr>
        <p:sp>
          <p:nvSpPr>
            <p:cNvPr id="89" name="Google Shape;89;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 name="Google Shape;91;p9"/>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92" name="Google Shape;92;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93" name="Google Shape;93;p9">
            <a:hlinkClick r:id="rId2" action="ppaction://hlinksldjump"/>
          </p:cNvPr>
          <p:cNvSpPr/>
          <p:nvPr/>
        </p:nvSpPr>
        <p:spPr>
          <a:xfrm>
            <a:off x="8280450" y="0"/>
            <a:ext cx="863400" cy="454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4" name="Google Shape;94;p9">
            <a:hlinkClick r:id="rId2" action="ppaction://hlinksldjump"/>
          </p:cNvPr>
          <p:cNvCxnSpPr/>
          <p:nvPr/>
        </p:nvCxnSpPr>
        <p:spPr>
          <a:xfrm>
            <a:off x="8598817" y="216350"/>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95" name="Google Shape;95;p9">
            <a:hlinkClick r:id="rId2" action="ppaction://hlinksldjump"/>
          </p:cNvPr>
          <p:cNvCxnSpPr/>
          <p:nvPr/>
        </p:nvCxnSpPr>
        <p:spPr>
          <a:xfrm>
            <a:off x="8598817" y="250138"/>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96" name="Google Shape;96;p9">
            <a:hlinkClick r:id="rId2" action="ppaction://hlinksldjump"/>
          </p:cNvPr>
          <p:cNvCxnSpPr/>
          <p:nvPr/>
        </p:nvCxnSpPr>
        <p:spPr>
          <a:xfrm>
            <a:off x="8598817" y="283925"/>
            <a:ext cx="216300" cy="0"/>
          </a:xfrm>
          <a:prstGeom prst="straightConnector1">
            <a:avLst/>
          </a:prstGeom>
          <a:noFill/>
          <a:ln w="9525" cap="flat" cmpd="sng">
            <a:solidFill>
              <a:srgbClr val="B7B7B7"/>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97"/>
        <p:cNvGrpSpPr/>
        <p:nvPr/>
      </p:nvGrpSpPr>
      <p:grpSpPr>
        <a:xfrm>
          <a:off x="0" y="0"/>
          <a:ext cx="0" cy="0"/>
          <a:chOff x="0" y="0"/>
          <a:chExt cx="0" cy="0"/>
        </a:xfrm>
      </p:grpSpPr>
      <p:sp>
        <p:nvSpPr>
          <p:cNvPr id="98" name="Google Shape;98;p10"/>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 name="Google Shape;99;p10"/>
          <p:cNvGrpSpPr/>
          <p:nvPr/>
        </p:nvGrpSpPr>
        <p:grpSpPr>
          <a:xfrm>
            <a:off x="830392" y="1191256"/>
            <a:ext cx="745763" cy="45826"/>
            <a:chOff x="4580561" y="2589004"/>
            <a:chExt cx="1064464" cy="25200"/>
          </a:xfrm>
        </p:grpSpPr>
        <p:sp>
          <p:nvSpPr>
            <p:cNvPr id="100" name="Google Shape;100;p10"/>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0"/>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 name="Google Shape;102;p10"/>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103" name="Google Shape;103;p10"/>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04" name="Google Shape;104;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05" name="Google Shape;105;p10">
            <a:hlinkClick r:id="rId2" action="ppaction://hlinksldjump"/>
          </p:cNvPr>
          <p:cNvSpPr/>
          <p:nvPr/>
        </p:nvSpPr>
        <p:spPr>
          <a:xfrm>
            <a:off x="8280450" y="0"/>
            <a:ext cx="863400" cy="454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6" name="Google Shape;106;p10">
            <a:hlinkClick r:id="rId2" action="ppaction://hlinksldjump"/>
          </p:cNvPr>
          <p:cNvCxnSpPr/>
          <p:nvPr/>
        </p:nvCxnSpPr>
        <p:spPr>
          <a:xfrm>
            <a:off x="8598817" y="216350"/>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107" name="Google Shape;107;p10">
            <a:hlinkClick r:id="rId2" action="ppaction://hlinksldjump"/>
          </p:cNvPr>
          <p:cNvCxnSpPr/>
          <p:nvPr/>
        </p:nvCxnSpPr>
        <p:spPr>
          <a:xfrm>
            <a:off x="8598817" y="250138"/>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108" name="Google Shape;108;p10">
            <a:hlinkClick r:id="rId2" action="ppaction://hlinksldjump"/>
          </p:cNvPr>
          <p:cNvCxnSpPr/>
          <p:nvPr/>
        </p:nvCxnSpPr>
        <p:spPr>
          <a:xfrm>
            <a:off x="8598817" y="283925"/>
            <a:ext cx="216300" cy="0"/>
          </a:xfrm>
          <a:prstGeom prst="straightConnector1">
            <a:avLst/>
          </a:prstGeom>
          <a:noFill/>
          <a:ln w="9525" cap="flat" cmpd="sng">
            <a:solidFill>
              <a:srgbClr val="B7B7B7"/>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109"/>
        <p:cNvGrpSpPr/>
        <p:nvPr/>
      </p:nvGrpSpPr>
      <p:grpSpPr>
        <a:xfrm>
          <a:off x="0" y="0"/>
          <a:ext cx="0" cy="0"/>
          <a:chOff x="0" y="0"/>
          <a:chExt cx="0" cy="0"/>
        </a:xfrm>
      </p:grpSpPr>
      <p:grpSp>
        <p:nvGrpSpPr>
          <p:cNvPr id="110" name="Google Shape;110;p11"/>
          <p:cNvGrpSpPr/>
          <p:nvPr/>
        </p:nvGrpSpPr>
        <p:grpSpPr>
          <a:xfrm>
            <a:off x="830392" y="4169130"/>
            <a:ext cx="745763" cy="45826"/>
            <a:chOff x="4580561" y="2589004"/>
            <a:chExt cx="1064464" cy="25200"/>
          </a:xfrm>
        </p:grpSpPr>
        <p:sp>
          <p:nvSpPr>
            <p:cNvPr id="111" name="Google Shape;111;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 name="Google Shape;113;p11"/>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14" name="Google Shape;114;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
        <p:nvSpPr>
          <p:cNvPr id="115" name="Google Shape;115;p11">
            <a:hlinkClick r:id="rId2" action="ppaction://hlinksldjump"/>
          </p:cNvPr>
          <p:cNvSpPr/>
          <p:nvPr/>
        </p:nvSpPr>
        <p:spPr>
          <a:xfrm>
            <a:off x="8280450" y="0"/>
            <a:ext cx="863400" cy="454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6" name="Google Shape;116;p11">
            <a:hlinkClick r:id="rId2" action="ppaction://hlinksldjump"/>
          </p:cNvPr>
          <p:cNvCxnSpPr/>
          <p:nvPr/>
        </p:nvCxnSpPr>
        <p:spPr>
          <a:xfrm>
            <a:off x="8598817" y="216350"/>
            <a:ext cx="216300" cy="0"/>
          </a:xfrm>
          <a:prstGeom prst="straightConnector1">
            <a:avLst/>
          </a:prstGeom>
          <a:noFill/>
          <a:ln w="9525" cap="flat" cmpd="sng">
            <a:solidFill>
              <a:schemeClr val="lt2"/>
            </a:solidFill>
            <a:prstDash val="solid"/>
            <a:round/>
            <a:headEnd type="none" w="med" len="med"/>
            <a:tailEnd type="none" w="med" len="med"/>
          </a:ln>
        </p:spPr>
      </p:cxnSp>
      <p:cxnSp>
        <p:nvCxnSpPr>
          <p:cNvPr id="117" name="Google Shape;117;p11">
            <a:hlinkClick r:id="rId2" action="ppaction://hlinksldjump"/>
          </p:cNvPr>
          <p:cNvCxnSpPr/>
          <p:nvPr/>
        </p:nvCxnSpPr>
        <p:spPr>
          <a:xfrm>
            <a:off x="8598817" y="250138"/>
            <a:ext cx="216300" cy="0"/>
          </a:xfrm>
          <a:prstGeom prst="straightConnector1">
            <a:avLst/>
          </a:prstGeom>
          <a:noFill/>
          <a:ln w="9525" cap="flat" cmpd="sng">
            <a:solidFill>
              <a:schemeClr val="lt2"/>
            </a:solidFill>
            <a:prstDash val="solid"/>
            <a:round/>
            <a:headEnd type="none" w="med" len="med"/>
            <a:tailEnd type="none" w="med" len="med"/>
          </a:ln>
        </p:spPr>
      </p:cxnSp>
      <p:cxnSp>
        <p:nvCxnSpPr>
          <p:cNvPr id="118" name="Google Shape;118;p11">
            <a:hlinkClick r:id="rId2" action="ppaction://hlinksldjump"/>
          </p:cNvPr>
          <p:cNvCxnSpPr/>
          <p:nvPr/>
        </p:nvCxnSpPr>
        <p:spPr>
          <a:xfrm>
            <a:off x="8598817" y="283925"/>
            <a:ext cx="216300" cy="0"/>
          </a:xfrm>
          <a:prstGeom prst="straightConnector1">
            <a:avLst/>
          </a:prstGeom>
          <a:noFill/>
          <a:ln w="9525" cap="flat" cmpd="sng">
            <a:solidFill>
              <a:schemeClr val="lt2"/>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9"/>
        <p:cNvGrpSpPr/>
        <p:nvPr/>
      </p:nvGrpSpPr>
      <p:grpSpPr>
        <a:xfrm>
          <a:off x="0" y="0"/>
          <a:ext cx="0" cy="0"/>
          <a:chOff x="0" y="0"/>
          <a:chExt cx="0" cy="0"/>
        </a:xfrm>
      </p:grpSpPr>
      <p:sp>
        <p:nvSpPr>
          <p:cNvPr id="120" name="Google Shape;120;p12"/>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1" name="Google Shape;121;p12"/>
          <p:cNvGrpSpPr/>
          <p:nvPr/>
        </p:nvGrpSpPr>
        <p:grpSpPr>
          <a:xfrm>
            <a:off x="830392" y="1191256"/>
            <a:ext cx="745763" cy="45826"/>
            <a:chOff x="4580561" y="2589004"/>
            <a:chExt cx="1064464" cy="25200"/>
          </a:xfrm>
        </p:grpSpPr>
        <p:sp>
          <p:nvSpPr>
            <p:cNvPr id="122" name="Google Shape;122;p1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 name="Google Shape;124;p12"/>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125" name="Google Shape;125;p12"/>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26" name="Google Shape;126;p12"/>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27" name="Google Shape;127;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28" name="Google Shape;128;p12">
            <a:hlinkClick r:id="rId2" action="ppaction://hlinksldjump"/>
          </p:cNvPr>
          <p:cNvSpPr/>
          <p:nvPr/>
        </p:nvSpPr>
        <p:spPr>
          <a:xfrm>
            <a:off x="8280450" y="0"/>
            <a:ext cx="863400" cy="454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9" name="Google Shape;129;p12">
            <a:hlinkClick r:id="rId2" action="ppaction://hlinksldjump"/>
          </p:cNvPr>
          <p:cNvCxnSpPr/>
          <p:nvPr/>
        </p:nvCxnSpPr>
        <p:spPr>
          <a:xfrm>
            <a:off x="8598817" y="216350"/>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130" name="Google Shape;130;p12">
            <a:hlinkClick r:id="rId2" action="ppaction://hlinksldjump"/>
          </p:cNvPr>
          <p:cNvCxnSpPr/>
          <p:nvPr/>
        </p:nvCxnSpPr>
        <p:spPr>
          <a:xfrm>
            <a:off x="8598817" y="250138"/>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131" name="Google Shape;131;p12">
            <a:hlinkClick r:id="rId2" action="ppaction://hlinksldjump"/>
          </p:cNvPr>
          <p:cNvCxnSpPr/>
          <p:nvPr/>
        </p:nvCxnSpPr>
        <p:spPr>
          <a:xfrm>
            <a:off x="8598817" y="283925"/>
            <a:ext cx="216300" cy="0"/>
          </a:xfrm>
          <a:prstGeom prst="straightConnector1">
            <a:avLst/>
          </a:prstGeom>
          <a:noFill/>
          <a:ln w="9525" cap="flat" cmpd="sng">
            <a:solidFill>
              <a:srgbClr val="B7B7B7"/>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2"/>
        <p:cNvGrpSpPr/>
        <p:nvPr/>
      </p:nvGrpSpPr>
      <p:grpSpPr>
        <a:xfrm>
          <a:off x="0" y="0"/>
          <a:ext cx="0" cy="0"/>
          <a:chOff x="0" y="0"/>
          <a:chExt cx="0" cy="0"/>
        </a:xfrm>
      </p:grpSpPr>
      <p:sp>
        <p:nvSpPr>
          <p:cNvPr id="133" name="Google Shape;133;p13"/>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300"/>
              <a:buNone/>
              <a:defRPr/>
            </a:lvl1pPr>
          </a:lstStyle>
          <a:p>
            <a:endParaRPr/>
          </a:p>
        </p:txBody>
      </p:sp>
      <p:sp>
        <p:nvSpPr>
          <p:cNvPr id="134" name="Google Shape;134;p1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35" name="Google Shape;135;p13">
            <a:hlinkClick r:id="rId2" action="ppaction://hlinksldjump"/>
          </p:cNvPr>
          <p:cNvSpPr/>
          <p:nvPr/>
        </p:nvSpPr>
        <p:spPr>
          <a:xfrm>
            <a:off x="8280450" y="0"/>
            <a:ext cx="863400" cy="4542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6" name="Google Shape;136;p13">
            <a:hlinkClick r:id="rId2" action="ppaction://hlinksldjump"/>
          </p:cNvPr>
          <p:cNvCxnSpPr/>
          <p:nvPr/>
        </p:nvCxnSpPr>
        <p:spPr>
          <a:xfrm>
            <a:off x="8598817" y="216350"/>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137" name="Google Shape;137;p13">
            <a:hlinkClick r:id="rId2" action="ppaction://hlinksldjump"/>
          </p:cNvPr>
          <p:cNvCxnSpPr/>
          <p:nvPr/>
        </p:nvCxnSpPr>
        <p:spPr>
          <a:xfrm>
            <a:off x="8598817" y="250138"/>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138" name="Google Shape;138;p13">
            <a:hlinkClick r:id="rId2" action="ppaction://hlinksldjump"/>
          </p:cNvPr>
          <p:cNvCxnSpPr/>
          <p:nvPr/>
        </p:nvCxnSpPr>
        <p:spPr>
          <a:xfrm>
            <a:off x="8598817" y="283925"/>
            <a:ext cx="216300" cy="0"/>
          </a:xfrm>
          <a:prstGeom prst="straightConnector1">
            <a:avLst/>
          </a:prstGeom>
          <a:noFill/>
          <a:ln w="9525" cap="flat" cmpd="sng">
            <a:solidFill>
              <a:srgbClr val="B7B7B7"/>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139"/>
        <p:cNvGrpSpPr/>
        <p:nvPr/>
      </p:nvGrpSpPr>
      <p:grpSpPr>
        <a:xfrm>
          <a:off x="0" y="0"/>
          <a:ext cx="0" cy="0"/>
          <a:chOff x="0" y="0"/>
          <a:chExt cx="0" cy="0"/>
        </a:xfrm>
      </p:grpSpPr>
      <p:grpSp>
        <p:nvGrpSpPr>
          <p:cNvPr id="140" name="Google Shape;140;p14"/>
          <p:cNvGrpSpPr/>
          <p:nvPr/>
        </p:nvGrpSpPr>
        <p:grpSpPr>
          <a:xfrm>
            <a:off x="830392" y="4169130"/>
            <a:ext cx="745763" cy="45826"/>
            <a:chOff x="4580561" y="2589004"/>
            <a:chExt cx="1064464" cy="25200"/>
          </a:xfrm>
        </p:grpSpPr>
        <p:sp>
          <p:nvSpPr>
            <p:cNvPr id="141" name="Google Shape;141;p14"/>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4"/>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3" name="Google Shape;143;p14"/>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144" name="Google Shape;144;p14"/>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1600"/>
              </a:spcBef>
              <a:spcAft>
                <a:spcPts val="0"/>
              </a:spcAft>
              <a:buClr>
                <a:schemeClr val="lt1"/>
              </a:buClr>
              <a:buSzPts val="1100"/>
              <a:buChar char="○"/>
              <a:defRPr>
                <a:solidFill>
                  <a:schemeClr val="lt1"/>
                </a:solidFill>
              </a:defRPr>
            </a:lvl2pPr>
            <a:lvl3pPr marL="1371600" lvl="2" indent="-298450">
              <a:spcBef>
                <a:spcPts val="1600"/>
              </a:spcBef>
              <a:spcAft>
                <a:spcPts val="0"/>
              </a:spcAft>
              <a:buClr>
                <a:schemeClr val="lt1"/>
              </a:buClr>
              <a:buSzPts val="1100"/>
              <a:buChar char="■"/>
              <a:defRPr>
                <a:solidFill>
                  <a:schemeClr val="lt1"/>
                </a:solidFill>
              </a:defRPr>
            </a:lvl3pPr>
            <a:lvl4pPr marL="1828800" lvl="3" indent="-298450">
              <a:spcBef>
                <a:spcPts val="1600"/>
              </a:spcBef>
              <a:spcAft>
                <a:spcPts val="0"/>
              </a:spcAft>
              <a:buClr>
                <a:schemeClr val="lt1"/>
              </a:buClr>
              <a:buSzPts val="1100"/>
              <a:buChar char="●"/>
              <a:defRPr>
                <a:solidFill>
                  <a:schemeClr val="lt1"/>
                </a:solidFill>
              </a:defRPr>
            </a:lvl4pPr>
            <a:lvl5pPr marL="2286000" lvl="4" indent="-298450">
              <a:spcBef>
                <a:spcPts val="1600"/>
              </a:spcBef>
              <a:spcAft>
                <a:spcPts val="0"/>
              </a:spcAft>
              <a:buClr>
                <a:schemeClr val="lt1"/>
              </a:buClr>
              <a:buSzPts val="1100"/>
              <a:buChar char="○"/>
              <a:defRPr>
                <a:solidFill>
                  <a:schemeClr val="lt1"/>
                </a:solidFill>
              </a:defRPr>
            </a:lvl5pPr>
            <a:lvl6pPr marL="2743200" lvl="5" indent="-298450">
              <a:spcBef>
                <a:spcPts val="1600"/>
              </a:spcBef>
              <a:spcAft>
                <a:spcPts val="0"/>
              </a:spcAft>
              <a:buClr>
                <a:schemeClr val="lt1"/>
              </a:buClr>
              <a:buSzPts val="1100"/>
              <a:buChar char="■"/>
              <a:defRPr>
                <a:solidFill>
                  <a:schemeClr val="lt1"/>
                </a:solidFill>
              </a:defRPr>
            </a:lvl6pPr>
            <a:lvl7pPr marL="3200400" lvl="6" indent="-298450">
              <a:spcBef>
                <a:spcPts val="1600"/>
              </a:spcBef>
              <a:spcAft>
                <a:spcPts val="0"/>
              </a:spcAft>
              <a:buClr>
                <a:schemeClr val="lt1"/>
              </a:buClr>
              <a:buSzPts val="1100"/>
              <a:buChar char="●"/>
              <a:defRPr>
                <a:solidFill>
                  <a:schemeClr val="lt1"/>
                </a:solidFill>
              </a:defRPr>
            </a:lvl7pPr>
            <a:lvl8pPr marL="3657600" lvl="7" indent="-298450">
              <a:spcBef>
                <a:spcPts val="1600"/>
              </a:spcBef>
              <a:spcAft>
                <a:spcPts val="0"/>
              </a:spcAft>
              <a:buClr>
                <a:schemeClr val="lt1"/>
              </a:buClr>
              <a:buSzPts val="1100"/>
              <a:buChar char="○"/>
              <a:defRPr>
                <a:solidFill>
                  <a:schemeClr val="lt1"/>
                </a:solidFill>
              </a:defRPr>
            </a:lvl8pPr>
            <a:lvl9pPr marL="4114800" lvl="8" indent="-298450">
              <a:spcBef>
                <a:spcPts val="1600"/>
              </a:spcBef>
              <a:spcAft>
                <a:spcPts val="1600"/>
              </a:spcAft>
              <a:buClr>
                <a:schemeClr val="lt1"/>
              </a:buClr>
              <a:buSzPts val="1100"/>
              <a:buChar char="■"/>
              <a:defRPr>
                <a:solidFill>
                  <a:schemeClr val="lt1"/>
                </a:solidFill>
              </a:defRPr>
            </a:lvl9pPr>
          </a:lstStyle>
          <a:p>
            <a:endParaRPr/>
          </a:p>
        </p:txBody>
      </p:sp>
      <p:sp>
        <p:nvSpPr>
          <p:cNvPr id="145" name="Google Shape;145;p1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
        <p:nvSpPr>
          <p:cNvPr id="146" name="Google Shape;146;p14">
            <a:hlinkClick r:id="rId2" action="ppaction://hlinksldjump"/>
          </p:cNvPr>
          <p:cNvSpPr/>
          <p:nvPr/>
        </p:nvSpPr>
        <p:spPr>
          <a:xfrm>
            <a:off x="8280450" y="0"/>
            <a:ext cx="863400" cy="454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7" name="Google Shape;147;p14">
            <a:hlinkClick r:id="rId2" action="ppaction://hlinksldjump"/>
          </p:cNvPr>
          <p:cNvCxnSpPr/>
          <p:nvPr/>
        </p:nvCxnSpPr>
        <p:spPr>
          <a:xfrm>
            <a:off x="8598817" y="216350"/>
            <a:ext cx="216300" cy="0"/>
          </a:xfrm>
          <a:prstGeom prst="straightConnector1">
            <a:avLst/>
          </a:prstGeom>
          <a:noFill/>
          <a:ln w="9525" cap="flat" cmpd="sng">
            <a:solidFill>
              <a:schemeClr val="lt2"/>
            </a:solidFill>
            <a:prstDash val="solid"/>
            <a:round/>
            <a:headEnd type="none" w="med" len="med"/>
            <a:tailEnd type="none" w="med" len="med"/>
          </a:ln>
        </p:spPr>
      </p:cxnSp>
      <p:cxnSp>
        <p:nvCxnSpPr>
          <p:cNvPr id="148" name="Google Shape;148;p14">
            <a:hlinkClick r:id="rId2" action="ppaction://hlinksldjump"/>
          </p:cNvPr>
          <p:cNvCxnSpPr/>
          <p:nvPr/>
        </p:nvCxnSpPr>
        <p:spPr>
          <a:xfrm>
            <a:off x="8598817" y="250138"/>
            <a:ext cx="216300" cy="0"/>
          </a:xfrm>
          <a:prstGeom prst="straightConnector1">
            <a:avLst/>
          </a:prstGeom>
          <a:noFill/>
          <a:ln w="9525" cap="flat" cmpd="sng">
            <a:solidFill>
              <a:schemeClr val="lt2"/>
            </a:solidFill>
            <a:prstDash val="solid"/>
            <a:round/>
            <a:headEnd type="none" w="med" len="med"/>
            <a:tailEnd type="none" w="med" len="med"/>
          </a:ln>
        </p:spPr>
      </p:cxnSp>
      <p:cxnSp>
        <p:nvCxnSpPr>
          <p:cNvPr id="149" name="Google Shape;149;p14">
            <a:hlinkClick r:id="rId2" action="ppaction://hlinksldjump"/>
          </p:cNvPr>
          <p:cNvCxnSpPr/>
          <p:nvPr/>
        </p:nvCxnSpPr>
        <p:spPr>
          <a:xfrm>
            <a:off x="8598817" y="283925"/>
            <a:ext cx="216300" cy="0"/>
          </a:xfrm>
          <a:prstGeom prst="straightConnector1">
            <a:avLst/>
          </a:prstGeom>
          <a:noFill/>
          <a:ln w="9525" cap="flat" cmpd="sng">
            <a:solidFill>
              <a:schemeClr val="lt2"/>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0"/>
        <p:cNvGrpSpPr/>
        <p:nvPr/>
      </p:nvGrpSpPr>
      <p:grpSpPr>
        <a:xfrm>
          <a:off x="0" y="0"/>
          <a:ext cx="0" cy="0"/>
          <a:chOff x="0" y="0"/>
          <a:chExt cx="0" cy="0"/>
        </a:xfrm>
      </p:grpSpPr>
      <p:sp>
        <p:nvSpPr>
          <p:cNvPr id="151" name="Google Shape;151;p1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52" name="Google Shape;152;p15">
            <a:hlinkClick r:id="rId2" action="ppaction://hlinksldjump"/>
          </p:cNvPr>
          <p:cNvSpPr/>
          <p:nvPr/>
        </p:nvSpPr>
        <p:spPr>
          <a:xfrm>
            <a:off x="8280450" y="0"/>
            <a:ext cx="863400" cy="454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3" name="Google Shape;153;p15">
            <a:hlinkClick r:id="rId2" action="ppaction://hlinksldjump"/>
          </p:cNvPr>
          <p:cNvCxnSpPr/>
          <p:nvPr/>
        </p:nvCxnSpPr>
        <p:spPr>
          <a:xfrm>
            <a:off x="8598817" y="216350"/>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154" name="Google Shape;154;p15">
            <a:hlinkClick r:id="rId2" action="ppaction://hlinksldjump"/>
          </p:cNvPr>
          <p:cNvCxnSpPr/>
          <p:nvPr/>
        </p:nvCxnSpPr>
        <p:spPr>
          <a:xfrm>
            <a:off x="8598817" y="250138"/>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155" name="Google Shape;155;p15">
            <a:hlinkClick r:id="rId2" action="ppaction://hlinksldjump"/>
          </p:cNvPr>
          <p:cNvCxnSpPr/>
          <p:nvPr/>
        </p:nvCxnSpPr>
        <p:spPr>
          <a:xfrm>
            <a:off x="8598817" y="283925"/>
            <a:ext cx="216300" cy="0"/>
          </a:xfrm>
          <a:prstGeom prst="straightConnector1">
            <a:avLst/>
          </a:prstGeom>
          <a:noFill/>
          <a:ln w="9525" cap="flat" cmpd="sng">
            <a:solidFill>
              <a:srgbClr val="B7B7B7"/>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OC">
  <p:cSld name="SECTION_HEADER_1">
    <p:bg>
      <p:bgPr>
        <a:solidFill>
          <a:schemeClr val="dk1"/>
        </a:solidFill>
        <a:effectLst/>
      </p:bgPr>
    </p:bg>
    <p:spTree>
      <p:nvGrpSpPr>
        <p:cNvPr id="1" name="Shape 156"/>
        <p:cNvGrpSpPr/>
        <p:nvPr/>
      </p:nvGrpSpPr>
      <p:grpSpPr>
        <a:xfrm>
          <a:off x="0" y="0"/>
          <a:ext cx="0" cy="0"/>
          <a:chOff x="0" y="0"/>
          <a:chExt cx="0" cy="0"/>
        </a:xfrm>
      </p:grpSpPr>
      <p:sp>
        <p:nvSpPr>
          <p:cNvPr id="157" name="Google Shape;157;p16"/>
          <p:cNvSpPr txBox="1">
            <a:spLocks noGrp="1"/>
          </p:cNvSpPr>
          <p:nvPr>
            <p:ph type="title"/>
          </p:nvPr>
        </p:nvSpPr>
        <p:spPr>
          <a:xfrm>
            <a:off x="1308150" y="1318650"/>
            <a:ext cx="7110000" cy="535200"/>
          </a:xfrm>
          <a:prstGeom prst="rect">
            <a:avLst/>
          </a:prstGeom>
        </p:spPr>
        <p:txBody>
          <a:bodyPr spcFirstLastPara="1" wrap="square" lIns="91425" tIns="91425" rIns="91425" bIns="91425" anchor="t" anchorCtr="0">
            <a:noAutofit/>
          </a:bodyPr>
          <a:lstStyle>
            <a:lvl1pPr lvl="0">
              <a:spcBef>
                <a:spcPts val="0"/>
              </a:spcBef>
              <a:spcAft>
                <a:spcPts val="0"/>
              </a:spcAft>
              <a:buClr>
                <a:srgbClr val="FFFFFF"/>
              </a:buClr>
              <a:buSzPts val="2600"/>
              <a:buNone/>
              <a:defRPr sz="2600">
                <a:solidFill>
                  <a:srgbClr val="FFFFFF"/>
                </a:solidFill>
              </a:defRPr>
            </a:lvl1pPr>
            <a:lvl2pPr lvl="1">
              <a:spcBef>
                <a:spcPts val="0"/>
              </a:spcBef>
              <a:spcAft>
                <a:spcPts val="0"/>
              </a:spcAft>
              <a:buClr>
                <a:srgbClr val="FFFFFF"/>
              </a:buClr>
              <a:buSzPts val="2600"/>
              <a:buNone/>
              <a:defRPr sz="2600">
                <a:solidFill>
                  <a:srgbClr val="FFFFFF"/>
                </a:solidFill>
              </a:defRPr>
            </a:lvl2pPr>
            <a:lvl3pPr lvl="2">
              <a:spcBef>
                <a:spcPts val="0"/>
              </a:spcBef>
              <a:spcAft>
                <a:spcPts val="0"/>
              </a:spcAft>
              <a:buClr>
                <a:srgbClr val="FFFFFF"/>
              </a:buClr>
              <a:buSzPts val="2600"/>
              <a:buNone/>
              <a:defRPr sz="2600">
                <a:solidFill>
                  <a:srgbClr val="FFFFFF"/>
                </a:solidFill>
              </a:defRPr>
            </a:lvl3pPr>
            <a:lvl4pPr lvl="3">
              <a:spcBef>
                <a:spcPts val="0"/>
              </a:spcBef>
              <a:spcAft>
                <a:spcPts val="0"/>
              </a:spcAft>
              <a:buClr>
                <a:srgbClr val="FFFFFF"/>
              </a:buClr>
              <a:buSzPts val="2600"/>
              <a:buNone/>
              <a:defRPr sz="2600">
                <a:solidFill>
                  <a:srgbClr val="FFFFFF"/>
                </a:solidFill>
              </a:defRPr>
            </a:lvl4pPr>
            <a:lvl5pPr lvl="4">
              <a:spcBef>
                <a:spcPts val="0"/>
              </a:spcBef>
              <a:spcAft>
                <a:spcPts val="0"/>
              </a:spcAft>
              <a:buClr>
                <a:srgbClr val="FFFFFF"/>
              </a:buClr>
              <a:buSzPts val="2600"/>
              <a:buNone/>
              <a:defRPr sz="2600">
                <a:solidFill>
                  <a:srgbClr val="FFFFFF"/>
                </a:solidFill>
              </a:defRPr>
            </a:lvl5pPr>
            <a:lvl6pPr lvl="5">
              <a:spcBef>
                <a:spcPts val="0"/>
              </a:spcBef>
              <a:spcAft>
                <a:spcPts val="0"/>
              </a:spcAft>
              <a:buClr>
                <a:srgbClr val="FFFFFF"/>
              </a:buClr>
              <a:buSzPts val="2600"/>
              <a:buNone/>
              <a:defRPr sz="2600">
                <a:solidFill>
                  <a:srgbClr val="FFFFFF"/>
                </a:solidFill>
              </a:defRPr>
            </a:lvl6pPr>
            <a:lvl7pPr lvl="6">
              <a:spcBef>
                <a:spcPts val="0"/>
              </a:spcBef>
              <a:spcAft>
                <a:spcPts val="0"/>
              </a:spcAft>
              <a:buClr>
                <a:srgbClr val="FFFFFF"/>
              </a:buClr>
              <a:buSzPts val="2600"/>
              <a:buNone/>
              <a:defRPr sz="2600">
                <a:solidFill>
                  <a:srgbClr val="FFFFFF"/>
                </a:solidFill>
              </a:defRPr>
            </a:lvl7pPr>
            <a:lvl8pPr lvl="7">
              <a:spcBef>
                <a:spcPts val="0"/>
              </a:spcBef>
              <a:spcAft>
                <a:spcPts val="0"/>
              </a:spcAft>
              <a:buClr>
                <a:srgbClr val="FFFFFF"/>
              </a:buClr>
              <a:buSzPts val="2600"/>
              <a:buNone/>
              <a:defRPr sz="2600">
                <a:solidFill>
                  <a:srgbClr val="FFFFFF"/>
                </a:solidFill>
              </a:defRPr>
            </a:lvl8pPr>
            <a:lvl9pPr lvl="8">
              <a:spcBef>
                <a:spcPts val="0"/>
              </a:spcBef>
              <a:spcAft>
                <a:spcPts val="0"/>
              </a:spcAft>
              <a:buClr>
                <a:srgbClr val="FFFFFF"/>
              </a:buClr>
              <a:buSzPts val="2600"/>
              <a:buNone/>
              <a:defRPr sz="2600">
                <a:solidFill>
                  <a:srgbClr val="FFFFFF"/>
                </a:solidFill>
              </a:defRPr>
            </a:lvl9pPr>
          </a:lstStyle>
          <a:p>
            <a:endParaRPr/>
          </a:p>
        </p:txBody>
      </p:sp>
      <p:sp>
        <p:nvSpPr>
          <p:cNvPr id="158" name="Google Shape;158;p1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
        <p:nvSpPr>
          <p:cNvPr id="159" name="Google Shape;159;p16"/>
          <p:cNvSpPr txBox="1"/>
          <p:nvPr/>
        </p:nvSpPr>
        <p:spPr>
          <a:xfrm>
            <a:off x="226550" y="78500"/>
            <a:ext cx="998100" cy="321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600">
                <a:solidFill>
                  <a:srgbClr val="FFFFFF"/>
                </a:solidFill>
                <a:latin typeface="Raleway"/>
                <a:ea typeface="Raleway"/>
                <a:cs typeface="Raleway"/>
                <a:sym typeface="Raleway"/>
              </a:rPr>
              <a:t>Confidential</a:t>
            </a:r>
            <a:endParaRPr sz="600" b="1">
              <a:solidFill>
                <a:srgbClr val="FFFFFF"/>
              </a:solidFill>
              <a:latin typeface="Raleway"/>
              <a:ea typeface="Raleway"/>
              <a:cs typeface="Raleway"/>
              <a:sym typeface="Raleway"/>
            </a:endParaRPr>
          </a:p>
        </p:txBody>
      </p:sp>
      <p:sp>
        <p:nvSpPr>
          <p:cNvPr id="160" name="Google Shape;160;p16"/>
          <p:cNvSpPr txBox="1"/>
          <p:nvPr/>
        </p:nvSpPr>
        <p:spPr>
          <a:xfrm>
            <a:off x="1296767" y="78500"/>
            <a:ext cx="2100600" cy="321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600">
                <a:solidFill>
                  <a:srgbClr val="FFFFFF"/>
                </a:solidFill>
                <a:latin typeface="Raleway"/>
                <a:ea typeface="Raleway"/>
                <a:cs typeface="Raleway"/>
                <a:sym typeface="Raleway"/>
              </a:rPr>
              <a:t>Customized for </a:t>
            </a:r>
            <a:r>
              <a:rPr lang="en-GB" sz="600" b="1">
                <a:solidFill>
                  <a:srgbClr val="FFFFFF"/>
                </a:solidFill>
                <a:latin typeface="Raleway"/>
                <a:ea typeface="Raleway"/>
                <a:cs typeface="Raleway"/>
                <a:sym typeface="Raleway"/>
              </a:rPr>
              <a:t>Lorem Ipsum LLC</a:t>
            </a:r>
            <a:endParaRPr sz="600">
              <a:solidFill>
                <a:srgbClr val="FFFFFF"/>
              </a:solidFill>
              <a:latin typeface="Raleway"/>
              <a:ea typeface="Raleway"/>
              <a:cs typeface="Raleway"/>
              <a:sym typeface="Raleway"/>
            </a:endParaRPr>
          </a:p>
        </p:txBody>
      </p:sp>
      <p:sp>
        <p:nvSpPr>
          <p:cNvPr id="161" name="Google Shape;161;p16"/>
          <p:cNvSpPr txBox="1"/>
          <p:nvPr/>
        </p:nvSpPr>
        <p:spPr>
          <a:xfrm>
            <a:off x="8213935" y="78500"/>
            <a:ext cx="705900" cy="3219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GB" sz="600">
                <a:solidFill>
                  <a:srgbClr val="FFFFFF"/>
                </a:solidFill>
                <a:latin typeface="Raleway"/>
                <a:ea typeface="Raleway"/>
                <a:cs typeface="Raleway"/>
                <a:sym typeface="Raleway"/>
              </a:rPr>
              <a:t>Version 1.0</a:t>
            </a:r>
            <a:endParaRPr sz="600" b="1">
              <a:solidFill>
                <a:srgbClr val="FFFFFF"/>
              </a:solidFill>
              <a:latin typeface="Raleway"/>
              <a:ea typeface="Raleway"/>
              <a:cs typeface="Raleway"/>
              <a:sym typeface="Raleway"/>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_alt1">
  <p:cSld name="SECTION_HEADER_2">
    <p:bg>
      <p:bgPr>
        <a:solidFill>
          <a:srgbClr val="434343"/>
        </a:solidFill>
        <a:effectLst/>
      </p:bgPr>
    </p:bg>
    <p:spTree>
      <p:nvGrpSpPr>
        <p:cNvPr id="1" name="Shape 162"/>
        <p:cNvGrpSpPr/>
        <p:nvPr/>
      </p:nvGrpSpPr>
      <p:grpSpPr>
        <a:xfrm>
          <a:off x="0" y="0"/>
          <a:ext cx="0" cy="0"/>
          <a:chOff x="0" y="0"/>
          <a:chExt cx="0" cy="0"/>
        </a:xfrm>
      </p:grpSpPr>
      <p:grpSp>
        <p:nvGrpSpPr>
          <p:cNvPr id="163" name="Google Shape;163;p17"/>
          <p:cNvGrpSpPr/>
          <p:nvPr/>
        </p:nvGrpSpPr>
        <p:grpSpPr>
          <a:xfrm>
            <a:off x="830392" y="1191256"/>
            <a:ext cx="745763" cy="45826"/>
            <a:chOff x="4580561" y="2589004"/>
            <a:chExt cx="1064464" cy="25200"/>
          </a:xfrm>
        </p:grpSpPr>
        <p:sp>
          <p:nvSpPr>
            <p:cNvPr id="164" name="Google Shape;164;p1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6" name="Google Shape;166;p17"/>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67" name="Google Shape;167;p1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
        <p:nvSpPr>
          <p:cNvPr id="168" name="Google Shape;168;p17">
            <a:hlinkClick r:id="rId2" action="ppaction://hlinksldjump"/>
          </p:cNvPr>
          <p:cNvSpPr/>
          <p:nvPr/>
        </p:nvSpPr>
        <p:spPr>
          <a:xfrm>
            <a:off x="8280450" y="0"/>
            <a:ext cx="863400" cy="454200"/>
          </a:xfrm>
          <a:prstGeom prst="rect">
            <a:avLst/>
          </a:pr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69" name="Google Shape;169;p17">
            <a:hlinkClick r:id="rId2" action="ppaction://hlinksldjump"/>
          </p:cNvPr>
          <p:cNvCxnSpPr/>
          <p:nvPr/>
        </p:nvCxnSpPr>
        <p:spPr>
          <a:xfrm>
            <a:off x="8598817" y="216350"/>
            <a:ext cx="216300" cy="0"/>
          </a:xfrm>
          <a:prstGeom prst="straightConnector1">
            <a:avLst/>
          </a:prstGeom>
          <a:noFill/>
          <a:ln w="9525" cap="flat" cmpd="sng">
            <a:solidFill>
              <a:schemeClr val="lt2"/>
            </a:solidFill>
            <a:prstDash val="solid"/>
            <a:round/>
            <a:headEnd type="none" w="med" len="med"/>
            <a:tailEnd type="none" w="med" len="med"/>
          </a:ln>
        </p:spPr>
      </p:cxnSp>
      <p:cxnSp>
        <p:nvCxnSpPr>
          <p:cNvPr id="170" name="Google Shape;170;p17">
            <a:hlinkClick r:id="rId2" action="ppaction://hlinksldjump"/>
          </p:cNvPr>
          <p:cNvCxnSpPr/>
          <p:nvPr/>
        </p:nvCxnSpPr>
        <p:spPr>
          <a:xfrm>
            <a:off x="8598817" y="250138"/>
            <a:ext cx="216300" cy="0"/>
          </a:xfrm>
          <a:prstGeom prst="straightConnector1">
            <a:avLst/>
          </a:prstGeom>
          <a:noFill/>
          <a:ln w="9525" cap="flat" cmpd="sng">
            <a:solidFill>
              <a:schemeClr val="lt2"/>
            </a:solidFill>
            <a:prstDash val="solid"/>
            <a:round/>
            <a:headEnd type="none" w="med" len="med"/>
            <a:tailEnd type="none" w="med" len="med"/>
          </a:ln>
        </p:spPr>
      </p:cxnSp>
      <p:cxnSp>
        <p:nvCxnSpPr>
          <p:cNvPr id="171" name="Google Shape;171;p17">
            <a:hlinkClick r:id="rId2" action="ppaction://hlinksldjump"/>
          </p:cNvPr>
          <p:cNvCxnSpPr/>
          <p:nvPr/>
        </p:nvCxnSpPr>
        <p:spPr>
          <a:xfrm>
            <a:off x="8598817" y="283925"/>
            <a:ext cx="216300" cy="0"/>
          </a:xfrm>
          <a:prstGeom prst="straightConnector1">
            <a:avLst/>
          </a:prstGeom>
          <a:noFill/>
          <a:ln w="9525" cap="flat" cmpd="sng">
            <a:solidFill>
              <a:schemeClr val="lt2"/>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SzPts val="2800"/>
              <a:buFont typeface="Raleway"/>
              <a:buNone/>
              <a:defRPr sz="2800" b="1">
                <a:latin typeface="Raleway"/>
                <a:ea typeface="Raleway"/>
                <a:cs typeface="Raleway"/>
                <a:sym typeface="Raleway"/>
              </a:defRPr>
            </a:lvl1pPr>
            <a:lvl2pPr lvl="1">
              <a:spcBef>
                <a:spcPts val="0"/>
              </a:spcBef>
              <a:spcAft>
                <a:spcPts val="0"/>
              </a:spcAft>
              <a:buSzPts val="2800"/>
              <a:buFont typeface="Raleway"/>
              <a:buNone/>
              <a:defRPr sz="2800" b="1">
                <a:latin typeface="Raleway"/>
                <a:ea typeface="Raleway"/>
                <a:cs typeface="Raleway"/>
                <a:sym typeface="Raleway"/>
              </a:defRPr>
            </a:lvl2pPr>
            <a:lvl3pPr lvl="2">
              <a:spcBef>
                <a:spcPts val="0"/>
              </a:spcBef>
              <a:spcAft>
                <a:spcPts val="0"/>
              </a:spcAft>
              <a:buSzPts val="2800"/>
              <a:buFont typeface="Raleway"/>
              <a:buNone/>
              <a:defRPr sz="2800" b="1">
                <a:latin typeface="Raleway"/>
                <a:ea typeface="Raleway"/>
                <a:cs typeface="Raleway"/>
                <a:sym typeface="Raleway"/>
              </a:defRPr>
            </a:lvl3pPr>
            <a:lvl4pPr lvl="3">
              <a:spcBef>
                <a:spcPts val="0"/>
              </a:spcBef>
              <a:spcAft>
                <a:spcPts val="0"/>
              </a:spcAft>
              <a:buSzPts val="2800"/>
              <a:buFont typeface="Raleway"/>
              <a:buNone/>
              <a:defRPr sz="2800" b="1">
                <a:latin typeface="Raleway"/>
                <a:ea typeface="Raleway"/>
                <a:cs typeface="Raleway"/>
                <a:sym typeface="Raleway"/>
              </a:defRPr>
            </a:lvl4pPr>
            <a:lvl5pPr lvl="4">
              <a:spcBef>
                <a:spcPts val="0"/>
              </a:spcBef>
              <a:spcAft>
                <a:spcPts val="0"/>
              </a:spcAft>
              <a:buSzPts val="2800"/>
              <a:buFont typeface="Raleway"/>
              <a:buNone/>
              <a:defRPr sz="2800" b="1">
                <a:latin typeface="Raleway"/>
                <a:ea typeface="Raleway"/>
                <a:cs typeface="Raleway"/>
                <a:sym typeface="Raleway"/>
              </a:defRPr>
            </a:lvl5pPr>
            <a:lvl6pPr lvl="5">
              <a:spcBef>
                <a:spcPts val="0"/>
              </a:spcBef>
              <a:spcAft>
                <a:spcPts val="0"/>
              </a:spcAft>
              <a:buSzPts val="2800"/>
              <a:buFont typeface="Raleway"/>
              <a:buNone/>
              <a:defRPr sz="2800" b="1">
                <a:latin typeface="Raleway"/>
                <a:ea typeface="Raleway"/>
                <a:cs typeface="Raleway"/>
                <a:sym typeface="Raleway"/>
              </a:defRPr>
            </a:lvl6pPr>
            <a:lvl7pPr lvl="6">
              <a:spcBef>
                <a:spcPts val="0"/>
              </a:spcBef>
              <a:spcAft>
                <a:spcPts val="0"/>
              </a:spcAft>
              <a:buSzPts val="2800"/>
              <a:buFont typeface="Raleway"/>
              <a:buNone/>
              <a:defRPr sz="2800" b="1">
                <a:latin typeface="Raleway"/>
                <a:ea typeface="Raleway"/>
                <a:cs typeface="Raleway"/>
                <a:sym typeface="Raleway"/>
              </a:defRPr>
            </a:lvl7pPr>
            <a:lvl8pPr lvl="7">
              <a:spcBef>
                <a:spcPts val="0"/>
              </a:spcBef>
              <a:spcAft>
                <a:spcPts val="0"/>
              </a:spcAft>
              <a:buSzPts val="2800"/>
              <a:buFont typeface="Raleway"/>
              <a:buNone/>
              <a:defRPr sz="2800" b="1">
                <a:latin typeface="Raleway"/>
                <a:ea typeface="Raleway"/>
                <a:cs typeface="Raleway"/>
                <a:sym typeface="Raleway"/>
              </a:defRPr>
            </a:lvl8pPr>
            <a:lvl9pPr lvl="8">
              <a:spcBef>
                <a:spcPts val="0"/>
              </a:spcBef>
              <a:spcAft>
                <a:spcPts val="0"/>
              </a:spcAft>
              <a:buSzPts val="2800"/>
              <a:buFont typeface="Raleway"/>
              <a:buNone/>
              <a:defRPr sz="2800" b="1">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5"/>
        <p:cNvGrpSpPr/>
        <p:nvPr/>
      </p:nvGrpSpPr>
      <p:grpSpPr>
        <a:xfrm>
          <a:off x="0" y="0"/>
          <a:ext cx="0" cy="0"/>
          <a:chOff x="0" y="0"/>
          <a:chExt cx="0" cy="0"/>
        </a:xfrm>
      </p:grpSpPr>
      <p:sp>
        <p:nvSpPr>
          <p:cNvPr id="176" name="Google Shape;176;p18"/>
          <p:cNvSpPr txBox="1">
            <a:spLocks noGrp="1"/>
          </p:cNvSpPr>
          <p:nvPr>
            <p:ph type="title"/>
          </p:nvPr>
        </p:nvSpPr>
        <p:spPr>
          <a:xfrm>
            <a:off x="849825" y="979150"/>
            <a:ext cx="7110000" cy="535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5000" b="0">
                <a:solidFill>
                  <a:schemeClr val="lt1"/>
                </a:solidFill>
                <a:latin typeface="Oswald Medium"/>
                <a:ea typeface="Oswald Medium"/>
                <a:cs typeface="Oswald Medium"/>
                <a:sym typeface="Oswald Medium"/>
              </a:rPr>
              <a:t>Citi Bike Data Analysis</a:t>
            </a:r>
            <a:endParaRPr sz="5000" b="0">
              <a:solidFill>
                <a:schemeClr val="lt1"/>
              </a:solidFill>
              <a:latin typeface="Oswald Medium"/>
              <a:ea typeface="Oswald Medium"/>
              <a:cs typeface="Oswald Medium"/>
              <a:sym typeface="Oswald Medium"/>
            </a:endParaRPr>
          </a:p>
          <a:p>
            <a:pPr marL="0" lvl="0" indent="0" algn="l" rtl="0">
              <a:spcBef>
                <a:spcPts val="0"/>
              </a:spcBef>
              <a:spcAft>
                <a:spcPts val="0"/>
              </a:spcAft>
              <a:buNone/>
            </a:pPr>
            <a:endParaRPr/>
          </a:p>
        </p:txBody>
      </p:sp>
      <p:sp>
        <p:nvSpPr>
          <p:cNvPr id="177" name="Google Shape;177;p18"/>
          <p:cNvSpPr txBox="1"/>
          <p:nvPr/>
        </p:nvSpPr>
        <p:spPr>
          <a:xfrm>
            <a:off x="5641450" y="4000500"/>
            <a:ext cx="35253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300">
                <a:solidFill>
                  <a:schemeClr val="lt1"/>
                </a:solidFill>
                <a:latin typeface="Lato"/>
                <a:ea typeface="Lato"/>
                <a:cs typeface="Lato"/>
                <a:sym typeface="Lato"/>
              </a:rPr>
              <a:t>-By Kalyani Rane</a:t>
            </a:r>
            <a:endParaRPr sz="1300">
              <a:solidFill>
                <a:schemeClr val="lt1"/>
              </a:solidFill>
              <a:latin typeface="Lato"/>
              <a:ea typeface="Lato"/>
              <a:cs typeface="Lato"/>
              <a:sym typeface="Lato"/>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1"/>
        <p:cNvGrpSpPr/>
        <p:nvPr/>
      </p:nvGrpSpPr>
      <p:grpSpPr>
        <a:xfrm>
          <a:off x="0" y="0"/>
          <a:ext cx="0" cy="0"/>
          <a:chOff x="0" y="0"/>
          <a:chExt cx="0" cy="0"/>
        </a:xfrm>
      </p:grpSpPr>
      <p:sp>
        <p:nvSpPr>
          <p:cNvPr id="182" name="Google Shape;182;p19"/>
          <p:cNvSpPr txBox="1">
            <a:spLocks noGrp="1"/>
          </p:cNvSpPr>
          <p:nvPr>
            <p:ph type="title"/>
          </p:nvPr>
        </p:nvSpPr>
        <p:spPr>
          <a:xfrm>
            <a:off x="1293850" y="506600"/>
            <a:ext cx="5816100" cy="108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800">
                <a:solidFill>
                  <a:schemeClr val="dk2"/>
                </a:solidFill>
              </a:rPr>
              <a:t>PROJECT GOAL</a:t>
            </a:r>
            <a:endParaRPr sz="2800">
              <a:solidFill>
                <a:schemeClr val="dk2"/>
              </a:solidFill>
            </a:endParaRPr>
          </a:p>
        </p:txBody>
      </p:sp>
      <p:sp>
        <p:nvSpPr>
          <p:cNvPr id="183" name="Google Shape;183;p19"/>
          <p:cNvSpPr txBox="1"/>
          <p:nvPr/>
        </p:nvSpPr>
        <p:spPr>
          <a:xfrm>
            <a:off x="1242300" y="1587500"/>
            <a:ext cx="6659400" cy="3076200"/>
          </a:xfrm>
          <a:prstGeom prst="rect">
            <a:avLst/>
          </a:prstGeom>
          <a:noFill/>
          <a:ln>
            <a:noFill/>
          </a:ln>
        </p:spPr>
        <p:txBody>
          <a:bodyPr spcFirstLastPara="1" wrap="square" lIns="91425" tIns="91425" rIns="91425" bIns="91425" anchor="ctr" anchorCtr="0">
            <a:noAutofit/>
          </a:bodyPr>
          <a:lstStyle/>
          <a:p>
            <a:pPr marL="457200" lvl="0" indent="-342900" algn="l" rtl="0">
              <a:lnSpc>
                <a:spcPct val="115000"/>
              </a:lnSpc>
              <a:spcBef>
                <a:spcPts val="0"/>
              </a:spcBef>
              <a:spcAft>
                <a:spcPts val="0"/>
              </a:spcAft>
              <a:buClr>
                <a:srgbClr val="FFFFFF"/>
              </a:buClr>
              <a:buSzPts val="1800"/>
              <a:buFont typeface="Roboto"/>
              <a:buChar char="●"/>
            </a:pPr>
            <a:endParaRPr sz="1800" b="1" i="1">
              <a:solidFill>
                <a:schemeClr val="dk2"/>
              </a:solidFill>
              <a:latin typeface="Roboto"/>
              <a:ea typeface="Roboto"/>
              <a:cs typeface="Roboto"/>
              <a:sym typeface="Roboto"/>
            </a:endParaRPr>
          </a:p>
          <a:p>
            <a:pPr marL="457200" lvl="0" indent="-342900" algn="l" rtl="0">
              <a:lnSpc>
                <a:spcPct val="115000"/>
              </a:lnSpc>
              <a:spcBef>
                <a:spcPts val="0"/>
              </a:spcBef>
              <a:spcAft>
                <a:spcPts val="0"/>
              </a:spcAft>
              <a:buClr>
                <a:srgbClr val="FFFFFF"/>
              </a:buClr>
              <a:buSzPts val="1800"/>
              <a:buFont typeface="Roboto"/>
              <a:buChar char="●"/>
            </a:pPr>
            <a:endParaRPr sz="1800" b="1" i="1">
              <a:solidFill>
                <a:schemeClr val="dk2"/>
              </a:solidFill>
              <a:latin typeface="Roboto"/>
              <a:ea typeface="Roboto"/>
              <a:cs typeface="Roboto"/>
              <a:sym typeface="Roboto"/>
            </a:endParaRPr>
          </a:p>
          <a:p>
            <a:pPr marL="457200" lvl="0" indent="-342900" algn="l" rtl="0">
              <a:lnSpc>
                <a:spcPct val="115000"/>
              </a:lnSpc>
              <a:spcBef>
                <a:spcPts val="0"/>
              </a:spcBef>
              <a:spcAft>
                <a:spcPts val="0"/>
              </a:spcAft>
              <a:buClr>
                <a:srgbClr val="FFFFFF"/>
              </a:buClr>
              <a:buSzPts val="1800"/>
              <a:buFont typeface="Roboto"/>
              <a:buChar char="●"/>
            </a:pPr>
            <a:r>
              <a:rPr lang="en-GB" sz="1800" b="1" i="1">
                <a:solidFill>
                  <a:schemeClr val="dk2"/>
                </a:solidFill>
                <a:latin typeface="Roboto"/>
                <a:ea typeface="Roboto"/>
                <a:cs typeface="Roboto"/>
                <a:sym typeface="Roboto"/>
              </a:rPr>
              <a:t>To better understand the behavior of NY Citi Bike’s customer base (both one-time users and subscribers) and how they use NY Citi Bikes.</a:t>
            </a:r>
            <a:endParaRPr sz="1800" b="1" i="1">
              <a:solidFill>
                <a:schemeClr val="dk2"/>
              </a:solidFill>
              <a:latin typeface="Roboto"/>
              <a:ea typeface="Roboto"/>
              <a:cs typeface="Roboto"/>
              <a:sym typeface="Roboto"/>
            </a:endParaRPr>
          </a:p>
          <a:p>
            <a:pPr marL="457200" lvl="0" indent="0" algn="l" rtl="0">
              <a:lnSpc>
                <a:spcPct val="115000"/>
              </a:lnSpc>
              <a:spcBef>
                <a:spcPts val="1200"/>
              </a:spcBef>
              <a:spcAft>
                <a:spcPts val="0"/>
              </a:spcAft>
              <a:buNone/>
            </a:pPr>
            <a:endParaRPr sz="1800" b="1" i="1">
              <a:solidFill>
                <a:schemeClr val="dk2"/>
              </a:solidFill>
              <a:latin typeface="Roboto"/>
              <a:ea typeface="Roboto"/>
              <a:cs typeface="Roboto"/>
              <a:sym typeface="Roboto"/>
            </a:endParaRPr>
          </a:p>
          <a:p>
            <a:pPr marL="457200" lvl="0" indent="-342900" algn="l" rtl="0">
              <a:lnSpc>
                <a:spcPct val="115000"/>
              </a:lnSpc>
              <a:spcBef>
                <a:spcPts val="1200"/>
              </a:spcBef>
              <a:spcAft>
                <a:spcPts val="0"/>
              </a:spcAft>
              <a:buClr>
                <a:schemeClr val="dk2"/>
              </a:buClr>
              <a:buSzPts val="1800"/>
              <a:buFont typeface="Roboto"/>
              <a:buChar char="●"/>
            </a:pPr>
            <a:r>
              <a:rPr lang="en-GB" sz="1800" b="1" i="1">
                <a:solidFill>
                  <a:schemeClr val="dk2"/>
                </a:solidFill>
                <a:latin typeface="Roboto"/>
                <a:ea typeface="Roboto"/>
                <a:cs typeface="Roboto"/>
                <a:sym typeface="Roboto"/>
              </a:rPr>
              <a:t>This will help us to :</a:t>
            </a:r>
            <a:endParaRPr sz="1800" b="1" i="1">
              <a:solidFill>
                <a:schemeClr val="dk2"/>
              </a:solidFill>
              <a:latin typeface="Roboto"/>
              <a:ea typeface="Roboto"/>
              <a:cs typeface="Roboto"/>
              <a:sym typeface="Roboto"/>
            </a:endParaRPr>
          </a:p>
          <a:p>
            <a:pPr marL="457200" lvl="0" indent="0" algn="l" rtl="0">
              <a:lnSpc>
                <a:spcPct val="115000"/>
              </a:lnSpc>
              <a:spcBef>
                <a:spcPts val="1200"/>
              </a:spcBef>
              <a:spcAft>
                <a:spcPts val="0"/>
              </a:spcAft>
              <a:buNone/>
            </a:pPr>
            <a:r>
              <a:rPr lang="en-GB" sz="1800" b="1" i="1">
                <a:solidFill>
                  <a:schemeClr val="dk2"/>
                </a:solidFill>
                <a:latin typeface="Roboto"/>
                <a:ea typeface="Roboto"/>
                <a:cs typeface="Roboto"/>
                <a:sym typeface="Roboto"/>
              </a:rPr>
              <a:t>Identify where most bikes used be installed.</a:t>
            </a:r>
            <a:endParaRPr sz="1800" b="1" i="1">
              <a:solidFill>
                <a:schemeClr val="dk2"/>
              </a:solidFill>
              <a:latin typeface="Roboto"/>
              <a:ea typeface="Roboto"/>
              <a:cs typeface="Roboto"/>
              <a:sym typeface="Roboto"/>
            </a:endParaRPr>
          </a:p>
          <a:p>
            <a:pPr marL="457200" lvl="0" indent="0" algn="l" rtl="0">
              <a:lnSpc>
                <a:spcPct val="115000"/>
              </a:lnSpc>
              <a:spcBef>
                <a:spcPts val="1200"/>
              </a:spcBef>
              <a:spcAft>
                <a:spcPts val="0"/>
              </a:spcAft>
              <a:buNone/>
            </a:pPr>
            <a:r>
              <a:rPr lang="en-GB" sz="1800" b="1" i="1">
                <a:solidFill>
                  <a:schemeClr val="dk2"/>
                </a:solidFill>
                <a:latin typeface="Roboto"/>
                <a:ea typeface="Roboto"/>
                <a:cs typeface="Roboto"/>
                <a:sym typeface="Roboto"/>
              </a:rPr>
              <a:t>To create </a:t>
            </a:r>
            <a:r>
              <a:rPr lang="en-GB" b="1" i="1">
                <a:solidFill>
                  <a:schemeClr val="dk2"/>
                </a:solidFill>
                <a:latin typeface="Roboto"/>
                <a:ea typeface="Roboto"/>
                <a:cs typeface="Roboto"/>
                <a:sym typeface="Roboto"/>
              </a:rPr>
              <a:t> </a:t>
            </a:r>
            <a:r>
              <a:rPr lang="en-GB" sz="1800" b="1" i="1">
                <a:solidFill>
                  <a:schemeClr val="dk2"/>
                </a:solidFill>
                <a:latin typeface="Roboto"/>
                <a:ea typeface="Roboto"/>
                <a:cs typeface="Roboto"/>
                <a:sym typeface="Roboto"/>
              </a:rPr>
              <a:t>targeted marketing campaigns that will appeal to different customer segments.</a:t>
            </a:r>
            <a:endParaRPr sz="2200" b="1" i="1">
              <a:solidFill>
                <a:schemeClr val="dk2"/>
              </a:solidFill>
              <a:latin typeface="Roboto"/>
              <a:ea typeface="Roboto"/>
              <a:cs typeface="Roboto"/>
              <a:sym typeface="Roboto"/>
            </a:endParaRPr>
          </a:p>
          <a:p>
            <a:pPr marL="457200" lvl="0" indent="0" algn="l" rtl="0">
              <a:lnSpc>
                <a:spcPct val="115000"/>
              </a:lnSpc>
              <a:spcBef>
                <a:spcPts val="1200"/>
              </a:spcBef>
              <a:spcAft>
                <a:spcPts val="1200"/>
              </a:spcAft>
              <a:buNone/>
            </a:pPr>
            <a:endParaRPr sz="1800" i="1">
              <a:latin typeface="Roboto Light"/>
              <a:ea typeface="Roboto Light"/>
              <a:cs typeface="Roboto Light"/>
              <a:sym typeface="Roboto Light"/>
            </a:endParaRPr>
          </a:p>
        </p:txBody>
      </p:sp>
      <p:sp>
        <p:nvSpPr>
          <p:cNvPr id="184" name="Google Shape;184;p19"/>
          <p:cNvSpPr txBox="1"/>
          <p:nvPr/>
        </p:nvSpPr>
        <p:spPr>
          <a:xfrm>
            <a:off x="-11250" y="121700"/>
            <a:ext cx="9166500" cy="384900"/>
          </a:xfrm>
          <a:prstGeom prst="rect">
            <a:avLst/>
          </a:prstGeom>
          <a:solidFill>
            <a:schemeClr val="lt2"/>
          </a:solid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300">
              <a:solidFill>
                <a:schemeClr val="accent1"/>
              </a:solidFill>
              <a:latin typeface="Lato"/>
              <a:ea typeface="Lato"/>
              <a:cs typeface="Lato"/>
              <a:sym typeface="Lato"/>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0"/>
          <p:cNvSpPr txBox="1">
            <a:spLocks noGrp="1"/>
          </p:cNvSpPr>
          <p:nvPr>
            <p:ph type="title"/>
          </p:nvPr>
        </p:nvSpPr>
        <p:spPr>
          <a:xfrm>
            <a:off x="610375" y="46820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Key Questions</a:t>
            </a:r>
            <a:endParaRPr/>
          </a:p>
        </p:txBody>
      </p:sp>
      <p:sp>
        <p:nvSpPr>
          <p:cNvPr id="190" name="Google Shape;190;p20"/>
          <p:cNvSpPr/>
          <p:nvPr/>
        </p:nvSpPr>
        <p:spPr>
          <a:xfrm>
            <a:off x="890515" y="1450300"/>
            <a:ext cx="328800" cy="328800"/>
          </a:xfrm>
          <a:prstGeom prst="ellipse">
            <a:avLst/>
          </a:prstGeom>
          <a:solidFill>
            <a:srgbClr val="00BF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b="1">
                <a:solidFill>
                  <a:srgbClr val="FFFFFF"/>
                </a:solidFill>
              </a:rPr>
              <a:t>1</a:t>
            </a:r>
            <a:endParaRPr sz="800" b="1">
              <a:solidFill>
                <a:srgbClr val="FFFFFF"/>
              </a:solidFill>
            </a:endParaRPr>
          </a:p>
        </p:txBody>
      </p:sp>
      <p:sp>
        <p:nvSpPr>
          <p:cNvPr id="191" name="Google Shape;191;p20"/>
          <p:cNvSpPr/>
          <p:nvPr/>
        </p:nvSpPr>
        <p:spPr>
          <a:xfrm>
            <a:off x="890515" y="2571750"/>
            <a:ext cx="328800" cy="328800"/>
          </a:xfrm>
          <a:prstGeom prst="ellipse">
            <a:avLst/>
          </a:prstGeom>
          <a:solidFill>
            <a:srgbClr val="00BF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b="1">
                <a:solidFill>
                  <a:srgbClr val="FFFFFF"/>
                </a:solidFill>
              </a:rPr>
              <a:t>2</a:t>
            </a:r>
            <a:endParaRPr sz="800" b="1">
              <a:solidFill>
                <a:srgbClr val="FFFFFF"/>
              </a:solidFill>
            </a:endParaRPr>
          </a:p>
        </p:txBody>
      </p:sp>
      <p:sp>
        <p:nvSpPr>
          <p:cNvPr id="192" name="Google Shape;192;p20"/>
          <p:cNvSpPr txBox="1">
            <a:spLocks noGrp="1"/>
          </p:cNvSpPr>
          <p:nvPr>
            <p:ph type="body" idx="1"/>
          </p:nvPr>
        </p:nvSpPr>
        <p:spPr>
          <a:xfrm>
            <a:off x="1263941" y="2736150"/>
            <a:ext cx="2832900" cy="105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500">
                <a:solidFill>
                  <a:srgbClr val="000000"/>
                </a:solidFill>
                <a:latin typeface="Roboto"/>
                <a:ea typeface="Roboto"/>
                <a:cs typeface="Roboto"/>
                <a:sym typeface="Roboto"/>
              </a:rPr>
              <a:t>How does the average trip duration vary across different age groups?</a:t>
            </a:r>
            <a:endParaRPr sz="1500">
              <a:solidFill>
                <a:srgbClr val="000000"/>
              </a:solidFill>
              <a:latin typeface="Roboto"/>
              <a:ea typeface="Roboto"/>
              <a:cs typeface="Roboto"/>
              <a:sym typeface="Roboto"/>
            </a:endParaRPr>
          </a:p>
          <a:p>
            <a:pPr marL="0" lvl="0" indent="0" algn="l" rtl="0">
              <a:spcBef>
                <a:spcPts val="0"/>
              </a:spcBef>
              <a:spcAft>
                <a:spcPts val="0"/>
              </a:spcAft>
              <a:buNone/>
            </a:pPr>
            <a:r>
              <a:rPr lang="en-GB" sz="1800">
                <a:solidFill>
                  <a:srgbClr val="000000"/>
                </a:solidFill>
                <a:latin typeface="Roboto"/>
                <a:ea typeface="Roboto"/>
                <a:cs typeface="Roboto"/>
                <a:sym typeface="Roboto"/>
              </a:rPr>
              <a:t/>
            </a:r>
            <a:br>
              <a:rPr lang="en-GB" sz="1800">
                <a:solidFill>
                  <a:srgbClr val="000000"/>
                </a:solidFill>
                <a:latin typeface="Roboto"/>
                <a:ea typeface="Roboto"/>
                <a:cs typeface="Roboto"/>
                <a:sym typeface="Roboto"/>
              </a:rPr>
            </a:br>
            <a:endParaRPr sz="1800">
              <a:solidFill>
                <a:srgbClr val="000000"/>
              </a:solidFill>
              <a:latin typeface="Roboto"/>
              <a:ea typeface="Roboto"/>
              <a:cs typeface="Roboto"/>
              <a:sym typeface="Roboto"/>
            </a:endParaRPr>
          </a:p>
          <a:p>
            <a:pPr marL="0" lvl="0" indent="0" algn="l" rtl="0">
              <a:spcBef>
                <a:spcPts val="0"/>
              </a:spcBef>
              <a:spcAft>
                <a:spcPts val="0"/>
              </a:spcAft>
              <a:buNone/>
            </a:pPr>
            <a:r>
              <a:rPr lang="en-GB" sz="1500">
                <a:solidFill>
                  <a:srgbClr val="000000"/>
                </a:solidFill>
                <a:latin typeface="Roboto"/>
                <a:ea typeface="Roboto"/>
                <a:cs typeface="Roboto"/>
                <a:sym typeface="Roboto"/>
              </a:rPr>
              <a:t>Which age group rents the most bikes</a:t>
            </a:r>
            <a:r>
              <a:rPr lang="en-GB" sz="1800">
                <a:solidFill>
                  <a:srgbClr val="000000"/>
                </a:solidFill>
                <a:latin typeface="Roboto"/>
                <a:ea typeface="Roboto"/>
                <a:cs typeface="Roboto"/>
                <a:sym typeface="Roboto"/>
              </a:rPr>
              <a:t>?</a:t>
            </a:r>
            <a:endParaRPr/>
          </a:p>
          <a:p>
            <a:pPr marL="0" lvl="0" indent="0" algn="l" rtl="0">
              <a:spcBef>
                <a:spcPts val="0"/>
              </a:spcBef>
              <a:spcAft>
                <a:spcPts val="1600"/>
              </a:spcAft>
              <a:buNone/>
            </a:pPr>
            <a:endParaRPr sz="1100"/>
          </a:p>
        </p:txBody>
      </p:sp>
      <p:sp>
        <p:nvSpPr>
          <p:cNvPr id="193" name="Google Shape;193;p20"/>
          <p:cNvSpPr txBox="1">
            <a:spLocks noGrp="1"/>
          </p:cNvSpPr>
          <p:nvPr>
            <p:ph type="body" idx="1"/>
          </p:nvPr>
        </p:nvSpPr>
        <p:spPr>
          <a:xfrm>
            <a:off x="5570112" y="3297450"/>
            <a:ext cx="2832900" cy="105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500">
                <a:solidFill>
                  <a:srgbClr val="000000"/>
                </a:solidFill>
                <a:latin typeface="Roboto"/>
                <a:ea typeface="Roboto"/>
                <a:cs typeface="Roboto"/>
                <a:sym typeface="Roboto"/>
              </a:rPr>
              <a:t>Does user age impact the average bike trip duration?</a:t>
            </a:r>
            <a:endParaRPr sz="1500" i="1">
              <a:solidFill>
                <a:srgbClr val="000000"/>
              </a:solidFill>
              <a:latin typeface="Roboto Light"/>
              <a:ea typeface="Roboto Light"/>
              <a:cs typeface="Roboto Light"/>
              <a:sym typeface="Roboto Light"/>
            </a:endParaRPr>
          </a:p>
          <a:p>
            <a:pPr marL="0" lvl="0" indent="0" algn="l" rtl="0">
              <a:spcBef>
                <a:spcPts val="0"/>
              </a:spcBef>
              <a:spcAft>
                <a:spcPts val="0"/>
              </a:spcAft>
              <a:buNone/>
            </a:pPr>
            <a:endParaRPr/>
          </a:p>
        </p:txBody>
      </p:sp>
      <p:sp>
        <p:nvSpPr>
          <p:cNvPr id="194" name="Google Shape;194;p20"/>
          <p:cNvSpPr/>
          <p:nvPr/>
        </p:nvSpPr>
        <p:spPr>
          <a:xfrm>
            <a:off x="5090809" y="1450300"/>
            <a:ext cx="328800" cy="328800"/>
          </a:xfrm>
          <a:prstGeom prst="ellipse">
            <a:avLst/>
          </a:prstGeom>
          <a:solidFill>
            <a:srgbClr val="00BF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b="1">
                <a:solidFill>
                  <a:srgbClr val="FFFFFF"/>
                </a:solidFill>
              </a:rPr>
              <a:t>4</a:t>
            </a:r>
            <a:endParaRPr sz="800" b="1">
              <a:solidFill>
                <a:srgbClr val="FFFFFF"/>
              </a:solidFill>
            </a:endParaRPr>
          </a:p>
        </p:txBody>
      </p:sp>
      <p:sp>
        <p:nvSpPr>
          <p:cNvPr id="195" name="Google Shape;195;p20"/>
          <p:cNvSpPr txBox="1">
            <a:spLocks noGrp="1"/>
          </p:cNvSpPr>
          <p:nvPr>
            <p:ph type="body" idx="1"/>
          </p:nvPr>
        </p:nvSpPr>
        <p:spPr>
          <a:xfrm>
            <a:off x="5570099" y="1593000"/>
            <a:ext cx="3127200" cy="105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500">
                <a:solidFill>
                  <a:srgbClr val="000000"/>
                </a:solidFill>
                <a:latin typeface="Roboto"/>
                <a:ea typeface="Roboto"/>
                <a:cs typeface="Roboto"/>
                <a:sym typeface="Roboto"/>
              </a:rPr>
              <a:t>How does bike rental vary across the two user groups (one-time users vs long-term subscribers) on different days of the week? </a:t>
            </a:r>
            <a:r>
              <a:rPr lang="en-GB" sz="1800">
                <a:solidFill>
                  <a:srgbClr val="000000"/>
                </a:solidFill>
                <a:latin typeface="Roboto"/>
                <a:ea typeface="Roboto"/>
                <a:cs typeface="Roboto"/>
                <a:sym typeface="Roboto"/>
              </a:rPr>
              <a:t/>
            </a:r>
            <a:br>
              <a:rPr lang="en-GB" sz="1800">
                <a:solidFill>
                  <a:srgbClr val="000000"/>
                </a:solidFill>
                <a:latin typeface="Roboto"/>
                <a:ea typeface="Roboto"/>
                <a:cs typeface="Roboto"/>
                <a:sym typeface="Roboto"/>
              </a:rPr>
            </a:br>
            <a:endParaRPr/>
          </a:p>
        </p:txBody>
      </p:sp>
      <p:sp>
        <p:nvSpPr>
          <p:cNvPr id="196" name="Google Shape;196;p20"/>
          <p:cNvSpPr txBox="1"/>
          <p:nvPr/>
        </p:nvSpPr>
        <p:spPr>
          <a:xfrm>
            <a:off x="1340903" y="1450300"/>
            <a:ext cx="2679000" cy="629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sz="1500">
                <a:latin typeface="Roboto"/>
                <a:ea typeface="Roboto"/>
                <a:cs typeface="Roboto"/>
                <a:sym typeface="Roboto"/>
              </a:rPr>
              <a:t>What are the most popular pick-up locations across the city for NY Citi Bike rental?</a:t>
            </a:r>
            <a:r>
              <a:rPr lang="en-GB" sz="1800">
                <a:latin typeface="Roboto"/>
                <a:ea typeface="Roboto"/>
                <a:cs typeface="Roboto"/>
                <a:sym typeface="Roboto"/>
              </a:rPr>
              <a:t/>
            </a:r>
            <a:br>
              <a:rPr lang="en-GB" sz="1800">
                <a:latin typeface="Roboto"/>
                <a:ea typeface="Roboto"/>
                <a:cs typeface="Roboto"/>
                <a:sym typeface="Roboto"/>
              </a:rPr>
            </a:br>
            <a:endParaRPr sz="1800">
              <a:latin typeface="Roboto"/>
              <a:ea typeface="Roboto"/>
              <a:cs typeface="Roboto"/>
              <a:sym typeface="Roboto"/>
            </a:endParaRPr>
          </a:p>
          <a:p>
            <a:pPr marL="0" lvl="0" indent="0" algn="l" rtl="0">
              <a:spcBef>
                <a:spcPts val="0"/>
              </a:spcBef>
              <a:spcAft>
                <a:spcPts val="0"/>
              </a:spcAft>
              <a:buNone/>
            </a:pPr>
            <a:endParaRPr>
              <a:solidFill>
                <a:schemeClr val="accent1"/>
              </a:solidFill>
              <a:latin typeface="Lato"/>
              <a:ea typeface="Lato"/>
              <a:cs typeface="Lato"/>
              <a:sym typeface="Lato"/>
            </a:endParaRPr>
          </a:p>
        </p:txBody>
      </p:sp>
      <p:sp>
        <p:nvSpPr>
          <p:cNvPr id="197" name="Google Shape;197;p20"/>
          <p:cNvSpPr/>
          <p:nvPr/>
        </p:nvSpPr>
        <p:spPr>
          <a:xfrm>
            <a:off x="890525" y="4140100"/>
            <a:ext cx="328800" cy="328800"/>
          </a:xfrm>
          <a:prstGeom prst="ellipse">
            <a:avLst/>
          </a:prstGeom>
          <a:solidFill>
            <a:srgbClr val="00BF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b="1">
                <a:solidFill>
                  <a:srgbClr val="FFFFFF"/>
                </a:solidFill>
              </a:rPr>
              <a:t>3</a:t>
            </a:r>
            <a:endParaRPr sz="800" b="1">
              <a:solidFill>
                <a:srgbClr val="FFFFFF"/>
              </a:solidFill>
            </a:endParaRPr>
          </a:p>
        </p:txBody>
      </p:sp>
      <p:sp>
        <p:nvSpPr>
          <p:cNvPr id="198" name="Google Shape;198;p20"/>
          <p:cNvSpPr/>
          <p:nvPr/>
        </p:nvSpPr>
        <p:spPr>
          <a:xfrm>
            <a:off x="5090809" y="3297450"/>
            <a:ext cx="328800" cy="328800"/>
          </a:xfrm>
          <a:prstGeom prst="ellipse">
            <a:avLst/>
          </a:prstGeom>
          <a:solidFill>
            <a:srgbClr val="00BF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b="1">
                <a:solidFill>
                  <a:srgbClr val="FFFFFF"/>
                </a:solidFill>
              </a:rPr>
              <a:t>5</a:t>
            </a:r>
            <a:endParaRPr sz="800" b="1">
              <a:solidFill>
                <a:srgbClr val="FFFFFF"/>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title"/>
          </p:nvPr>
        </p:nvSpPr>
        <p:spPr>
          <a:xfrm>
            <a:off x="729450" y="2056375"/>
            <a:ext cx="5203200" cy="151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FINDING AND INSIGHTS.</a:t>
            </a:r>
            <a:endParaRPr/>
          </a:p>
          <a:p>
            <a:pPr marL="0" lvl="0" indent="0" algn="l" rtl="0">
              <a:spcBef>
                <a:spcPts val="1600"/>
              </a:spcBef>
              <a:spcAft>
                <a:spcPts val="1600"/>
              </a:spcAft>
              <a:buNone/>
            </a:pPr>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2"/>
          <p:cNvSpPr txBox="1">
            <a:spLocks noGrp="1"/>
          </p:cNvSpPr>
          <p:nvPr>
            <p:ph type="title"/>
          </p:nvPr>
        </p:nvSpPr>
        <p:spPr>
          <a:xfrm>
            <a:off x="617275" y="114225"/>
            <a:ext cx="6987000" cy="1034400"/>
          </a:xfrm>
          <a:prstGeom prst="rect">
            <a:avLst/>
          </a:prstGeom>
        </p:spPr>
        <p:txBody>
          <a:bodyPr spcFirstLastPara="1" wrap="square" lIns="91425" tIns="91425" rIns="91425" bIns="91425" anchor="t" anchorCtr="0">
            <a:noAutofit/>
          </a:bodyPr>
          <a:lstStyle/>
          <a:p>
            <a:pPr marL="457200" lvl="0" indent="-355600" algn="l" rtl="0">
              <a:spcBef>
                <a:spcPts val="0"/>
              </a:spcBef>
              <a:spcAft>
                <a:spcPts val="0"/>
              </a:spcAft>
              <a:buClr>
                <a:srgbClr val="000000"/>
              </a:buClr>
              <a:buSzPts val="2000"/>
              <a:buFont typeface="Oswald Medium"/>
              <a:buAutoNum type="arabicPeriod"/>
            </a:pPr>
            <a:r>
              <a:rPr lang="en-GB" sz="2000" b="0">
                <a:solidFill>
                  <a:srgbClr val="000000"/>
                </a:solidFill>
                <a:latin typeface="Oswald Medium"/>
                <a:ea typeface="Oswald Medium"/>
                <a:cs typeface="Oswald Medium"/>
                <a:sym typeface="Oswald Medium"/>
              </a:rPr>
              <a:t>What are the most popular Citi Bike pick-up locations?</a:t>
            </a:r>
            <a:endParaRPr sz="2000" b="0"/>
          </a:p>
        </p:txBody>
      </p:sp>
      <p:pic>
        <p:nvPicPr>
          <p:cNvPr id="209" name="Google Shape;209;p22"/>
          <p:cNvPicPr preferRelativeResize="0"/>
          <p:nvPr/>
        </p:nvPicPr>
        <p:blipFill>
          <a:blip r:embed="rId3">
            <a:alphaModFix/>
          </a:blip>
          <a:stretch>
            <a:fillRect/>
          </a:stretch>
        </p:blipFill>
        <p:spPr>
          <a:xfrm>
            <a:off x="345650" y="741250"/>
            <a:ext cx="6144550" cy="4249850"/>
          </a:xfrm>
          <a:prstGeom prst="rect">
            <a:avLst/>
          </a:prstGeom>
          <a:noFill/>
          <a:ln>
            <a:noFill/>
          </a:ln>
        </p:spPr>
      </p:pic>
      <p:sp>
        <p:nvSpPr>
          <p:cNvPr id="210" name="Google Shape;210;p22"/>
          <p:cNvSpPr txBox="1"/>
          <p:nvPr/>
        </p:nvSpPr>
        <p:spPr>
          <a:xfrm>
            <a:off x="6806925" y="1152713"/>
            <a:ext cx="2184300" cy="3986700"/>
          </a:xfrm>
          <a:prstGeom prst="rect">
            <a:avLst/>
          </a:prstGeom>
          <a:noFill/>
          <a:ln>
            <a:noFill/>
          </a:ln>
        </p:spPr>
        <p:txBody>
          <a:bodyPr spcFirstLastPara="1" wrap="square" lIns="91425" tIns="91425" rIns="91425" bIns="91425" anchor="t" anchorCtr="0">
            <a:spAutoFit/>
          </a:bodyPr>
          <a:lstStyle/>
          <a:p>
            <a:pPr marL="457200" lvl="0" indent="-349250" algn="l" rtl="0">
              <a:spcBef>
                <a:spcPts val="0"/>
              </a:spcBef>
              <a:spcAft>
                <a:spcPts val="0"/>
              </a:spcAft>
              <a:buSzPts val="1900"/>
              <a:buFont typeface="Roboto Light"/>
              <a:buChar char="●"/>
            </a:pPr>
            <a:r>
              <a:rPr lang="en-GB" sz="1900">
                <a:latin typeface="Roboto Light"/>
                <a:ea typeface="Roboto Light"/>
                <a:cs typeface="Roboto Light"/>
                <a:sym typeface="Roboto Light"/>
              </a:rPr>
              <a:t>Grove St PATH</a:t>
            </a:r>
            <a:endParaRPr sz="1900">
              <a:latin typeface="Roboto Light"/>
              <a:ea typeface="Roboto Light"/>
              <a:cs typeface="Roboto Light"/>
              <a:sym typeface="Roboto Light"/>
            </a:endParaRPr>
          </a:p>
          <a:p>
            <a:pPr marL="457200" lvl="0" indent="0" algn="l" rtl="0">
              <a:spcBef>
                <a:spcPts val="0"/>
              </a:spcBef>
              <a:spcAft>
                <a:spcPts val="0"/>
              </a:spcAft>
              <a:buNone/>
            </a:pPr>
            <a:endParaRPr sz="1900">
              <a:latin typeface="Roboto Light"/>
              <a:ea typeface="Roboto Light"/>
              <a:cs typeface="Roboto Light"/>
              <a:sym typeface="Roboto Light"/>
            </a:endParaRPr>
          </a:p>
          <a:p>
            <a:pPr marL="457200" lvl="0" indent="-349250" algn="l" rtl="0">
              <a:spcBef>
                <a:spcPts val="0"/>
              </a:spcBef>
              <a:spcAft>
                <a:spcPts val="0"/>
              </a:spcAft>
              <a:buSzPts val="1900"/>
              <a:buFont typeface="Roboto Light"/>
              <a:buChar char="●"/>
            </a:pPr>
            <a:r>
              <a:rPr lang="en-GB" sz="1900">
                <a:latin typeface="Roboto Light"/>
                <a:ea typeface="Roboto Light"/>
                <a:cs typeface="Roboto Light"/>
                <a:sym typeface="Roboto Light"/>
              </a:rPr>
              <a:t> Baldwin at Montgomery</a:t>
            </a:r>
            <a:endParaRPr sz="1900">
              <a:latin typeface="Roboto Light"/>
              <a:ea typeface="Roboto Light"/>
              <a:cs typeface="Roboto Light"/>
              <a:sym typeface="Roboto Light"/>
            </a:endParaRPr>
          </a:p>
          <a:p>
            <a:pPr marL="457200" lvl="0" indent="0" algn="l" rtl="0">
              <a:spcBef>
                <a:spcPts val="0"/>
              </a:spcBef>
              <a:spcAft>
                <a:spcPts val="0"/>
              </a:spcAft>
              <a:buNone/>
            </a:pPr>
            <a:endParaRPr sz="1900">
              <a:latin typeface="Roboto Light"/>
              <a:ea typeface="Roboto Light"/>
              <a:cs typeface="Roboto Light"/>
              <a:sym typeface="Roboto Light"/>
            </a:endParaRPr>
          </a:p>
          <a:p>
            <a:pPr marL="457200" lvl="0" indent="-349250" algn="l" rtl="0">
              <a:spcBef>
                <a:spcPts val="0"/>
              </a:spcBef>
              <a:spcAft>
                <a:spcPts val="0"/>
              </a:spcAft>
              <a:buSzPts val="1900"/>
              <a:buFont typeface="Roboto Light"/>
              <a:buChar char="●"/>
            </a:pPr>
            <a:r>
              <a:rPr lang="en-GB" sz="1900">
                <a:latin typeface="Roboto Light"/>
                <a:ea typeface="Roboto Light"/>
                <a:cs typeface="Roboto Light"/>
                <a:sym typeface="Roboto Light"/>
              </a:rPr>
              <a:t>Hamilton Path</a:t>
            </a:r>
            <a:endParaRPr sz="1900">
              <a:latin typeface="Roboto Light"/>
              <a:ea typeface="Roboto Light"/>
              <a:cs typeface="Roboto Light"/>
              <a:sym typeface="Roboto Light"/>
            </a:endParaRPr>
          </a:p>
          <a:p>
            <a:pPr marL="457200" lvl="0" indent="0" algn="l" rtl="0">
              <a:spcBef>
                <a:spcPts val="0"/>
              </a:spcBef>
              <a:spcAft>
                <a:spcPts val="0"/>
              </a:spcAft>
              <a:buNone/>
            </a:pPr>
            <a:endParaRPr sz="1900">
              <a:latin typeface="Roboto Light"/>
              <a:ea typeface="Roboto Light"/>
              <a:cs typeface="Roboto Light"/>
              <a:sym typeface="Roboto Light"/>
            </a:endParaRPr>
          </a:p>
          <a:p>
            <a:pPr marL="457200" lvl="0" indent="-349250" algn="l" rtl="0">
              <a:spcBef>
                <a:spcPts val="0"/>
              </a:spcBef>
              <a:spcAft>
                <a:spcPts val="0"/>
              </a:spcAft>
              <a:buSzPts val="1900"/>
              <a:buFont typeface="Roboto Light"/>
              <a:buChar char="●"/>
            </a:pPr>
            <a:r>
              <a:rPr lang="en-GB" sz="1900">
                <a:latin typeface="Roboto Light"/>
                <a:ea typeface="Roboto Light"/>
                <a:cs typeface="Roboto Light"/>
                <a:sym typeface="Roboto Light"/>
              </a:rPr>
              <a:t>Brunswick St</a:t>
            </a:r>
            <a:endParaRPr sz="1900">
              <a:latin typeface="Roboto Light"/>
              <a:ea typeface="Roboto Light"/>
              <a:cs typeface="Roboto Light"/>
              <a:sym typeface="Roboto Light"/>
            </a:endParaRPr>
          </a:p>
          <a:p>
            <a:pPr marL="457200" lvl="0" indent="0" algn="l" rtl="0">
              <a:spcBef>
                <a:spcPts val="0"/>
              </a:spcBef>
              <a:spcAft>
                <a:spcPts val="0"/>
              </a:spcAft>
              <a:buNone/>
            </a:pPr>
            <a:endParaRPr sz="1900">
              <a:latin typeface="Roboto Light"/>
              <a:ea typeface="Roboto Light"/>
              <a:cs typeface="Roboto Light"/>
              <a:sym typeface="Roboto Light"/>
            </a:endParaRPr>
          </a:p>
          <a:p>
            <a:pPr marL="457200" lvl="0" indent="-349250" algn="l" rtl="0">
              <a:spcBef>
                <a:spcPts val="0"/>
              </a:spcBef>
              <a:spcAft>
                <a:spcPts val="0"/>
              </a:spcAft>
              <a:buSzPts val="1900"/>
              <a:buFont typeface="Roboto ExtraLight"/>
              <a:buChar char="●"/>
            </a:pPr>
            <a:r>
              <a:rPr lang="en-GB" sz="1900">
                <a:latin typeface="Roboto Light"/>
                <a:ea typeface="Roboto Light"/>
                <a:cs typeface="Roboto Light"/>
                <a:sym typeface="Roboto Light"/>
              </a:rPr>
              <a:t>Christ Hospital</a:t>
            </a:r>
            <a:endParaRPr sz="1900">
              <a:latin typeface="Roboto Light"/>
              <a:ea typeface="Roboto Light"/>
              <a:cs typeface="Roboto Light"/>
              <a:sym typeface="Roboto Light"/>
            </a:endParaRPr>
          </a:p>
          <a:p>
            <a:pPr marL="0" lvl="0" indent="0" algn="l" rtl="0">
              <a:spcBef>
                <a:spcPts val="0"/>
              </a:spcBef>
              <a:spcAft>
                <a:spcPts val="0"/>
              </a:spcAft>
              <a:buNone/>
            </a:pPr>
            <a:endParaRPr sz="1900">
              <a:latin typeface="Lato"/>
              <a:ea typeface="Lato"/>
              <a:cs typeface="Lato"/>
              <a:sym typeface="Lato"/>
            </a:endParaRPr>
          </a:p>
          <a:p>
            <a:pPr marL="0" lvl="0" indent="0" algn="l" rtl="0">
              <a:spcBef>
                <a:spcPts val="0"/>
              </a:spcBef>
              <a:spcAft>
                <a:spcPts val="0"/>
              </a:spcAft>
              <a:buNone/>
            </a:pPr>
            <a:r>
              <a:rPr lang="en-GB" sz="1900">
                <a:latin typeface="Lato"/>
                <a:ea typeface="Lato"/>
                <a:cs typeface="Lato"/>
                <a:sym typeface="Lato"/>
              </a:rPr>
              <a:t> </a:t>
            </a:r>
            <a:endParaRPr sz="1800">
              <a:solidFill>
                <a:schemeClr val="accent1"/>
              </a:solidFill>
              <a:latin typeface="Lato"/>
              <a:ea typeface="Lato"/>
              <a:cs typeface="Lato"/>
              <a:sym typeface="Lato"/>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3"/>
          <p:cNvSpPr txBox="1">
            <a:spLocks noGrp="1"/>
          </p:cNvSpPr>
          <p:nvPr>
            <p:ph type="title"/>
          </p:nvPr>
        </p:nvSpPr>
        <p:spPr>
          <a:xfrm>
            <a:off x="730725" y="130150"/>
            <a:ext cx="7796400" cy="93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000" b="0">
                <a:solidFill>
                  <a:srgbClr val="000000"/>
                </a:solidFill>
                <a:latin typeface="Oswald Medium"/>
                <a:ea typeface="Oswald Medium"/>
                <a:cs typeface="Oswald Medium"/>
                <a:sym typeface="Oswald Medium"/>
              </a:rPr>
              <a:t>2. How does the average trip duration vary across different age groups?</a:t>
            </a:r>
            <a:endParaRPr sz="2000" b="0"/>
          </a:p>
        </p:txBody>
      </p:sp>
      <p:pic>
        <p:nvPicPr>
          <p:cNvPr id="216" name="Google Shape;216;p23"/>
          <p:cNvPicPr preferRelativeResize="0"/>
          <p:nvPr/>
        </p:nvPicPr>
        <p:blipFill>
          <a:blip r:embed="rId3">
            <a:alphaModFix/>
          </a:blip>
          <a:stretch>
            <a:fillRect/>
          </a:stretch>
        </p:blipFill>
        <p:spPr>
          <a:xfrm>
            <a:off x="152400" y="1063750"/>
            <a:ext cx="6100150" cy="3927350"/>
          </a:xfrm>
          <a:prstGeom prst="rect">
            <a:avLst/>
          </a:prstGeom>
          <a:noFill/>
          <a:ln>
            <a:noFill/>
          </a:ln>
        </p:spPr>
      </p:pic>
      <p:sp>
        <p:nvSpPr>
          <p:cNvPr id="217" name="Google Shape;217;p23"/>
          <p:cNvSpPr txBox="1"/>
          <p:nvPr/>
        </p:nvSpPr>
        <p:spPr>
          <a:xfrm>
            <a:off x="6490200" y="1233525"/>
            <a:ext cx="2404800" cy="2208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1800" i="1">
                <a:latin typeface="Roboto Light"/>
                <a:ea typeface="Roboto Light"/>
                <a:cs typeface="Roboto Light"/>
                <a:sym typeface="Roboto Light"/>
              </a:rPr>
              <a:t>75+ year olds take the longest trips (on average)</a:t>
            </a:r>
            <a:endParaRPr sz="1800" i="1">
              <a:latin typeface="Roboto Light"/>
              <a:ea typeface="Roboto Light"/>
              <a:cs typeface="Roboto Light"/>
              <a:sym typeface="Roboto Light"/>
            </a:endParaRPr>
          </a:p>
          <a:p>
            <a:pPr marL="0" lvl="0" indent="0" algn="l" rtl="0">
              <a:lnSpc>
                <a:spcPct val="115000"/>
              </a:lnSpc>
              <a:spcBef>
                <a:spcPts val="1200"/>
              </a:spcBef>
              <a:spcAft>
                <a:spcPts val="1200"/>
              </a:spcAft>
              <a:buNone/>
            </a:pPr>
            <a:r>
              <a:rPr lang="en-GB" sz="1800" i="1">
                <a:latin typeface="Roboto Light"/>
                <a:ea typeface="Roboto Light"/>
                <a:cs typeface="Roboto Light"/>
                <a:sym typeface="Roboto Light"/>
              </a:rPr>
              <a:t>65-74 and 25-34 year olds take the shortest trips (on average)</a:t>
            </a:r>
            <a:endParaRPr sz="1300">
              <a:solidFill>
                <a:schemeClr val="accent1"/>
              </a:solidFill>
              <a:latin typeface="Lato"/>
              <a:ea typeface="Lato"/>
              <a:cs typeface="Lato"/>
              <a:sym typeface="Lato"/>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4"/>
          <p:cNvSpPr txBox="1">
            <a:spLocks noGrp="1"/>
          </p:cNvSpPr>
          <p:nvPr>
            <p:ph type="title"/>
          </p:nvPr>
        </p:nvSpPr>
        <p:spPr>
          <a:xfrm>
            <a:off x="679075" y="85175"/>
            <a:ext cx="8085900" cy="103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000" b="0">
                <a:solidFill>
                  <a:srgbClr val="000000"/>
                </a:solidFill>
                <a:latin typeface="Oswald Medium"/>
                <a:ea typeface="Oswald Medium"/>
                <a:cs typeface="Oswald Medium"/>
                <a:sym typeface="Oswald Medium"/>
              </a:rPr>
              <a:t>3. Which age group rents the most bikes?</a:t>
            </a:r>
            <a:endParaRPr sz="2000"/>
          </a:p>
        </p:txBody>
      </p:sp>
      <p:pic>
        <p:nvPicPr>
          <p:cNvPr id="223" name="Google Shape;223;p24"/>
          <p:cNvPicPr preferRelativeResize="0"/>
          <p:nvPr/>
        </p:nvPicPr>
        <p:blipFill rotWithShape="1">
          <a:blip r:embed="rId3">
            <a:alphaModFix/>
          </a:blip>
          <a:srcRect r="3344"/>
          <a:stretch/>
        </p:blipFill>
        <p:spPr>
          <a:xfrm>
            <a:off x="458375" y="995875"/>
            <a:ext cx="6371325" cy="3808499"/>
          </a:xfrm>
          <a:prstGeom prst="rect">
            <a:avLst/>
          </a:prstGeom>
          <a:noFill/>
          <a:ln>
            <a:noFill/>
          </a:ln>
        </p:spPr>
      </p:pic>
      <p:sp>
        <p:nvSpPr>
          <p:cNvPr id="224" name="Google Shape;224;p24"/>
          <p:cNvSpPr txBox="1"/>
          <p:nvPr/>
        </p:nvSpPr>
        <p:spPr>
          <a:xfrm>
            <a:off x="7118300" y="1119575"/>
            <a:ext cx="1946400" cy="252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1800" i="1">
                <a:latin typeface="Roboto Light"/>
                <a:ea typeface="Roboto Light"/>
                <a:cs typeface="Roboto Light"/>
                <a:sym typeface="Roboto Light"/>
              </a:rPr>
              <a:t>35-44 year olds rent the most bikes</a:t>
            </a:r>
            <a:br>
              <a:rPr lang="en-GB" sz="1800" i="1">
                <a:latin typeface="Roboto Light"/>
                <a:ea typeface="Roboto Light"/>
                <a:cs typeface="Roboto Light"/>
                <a:sym typeface="Roboto Light"/>
              </a:rPr>
            </a:br>
            <a:endParaRPr sz="1800" i="1">
              <a:latin typeface="Roboto Light"/>
              <a:ea typeface="Roboto Light"/>
              <a:cs typeface="Roboto Light"/>
              <a:sym typeface="Roboto Light"/>
            </a:endParaRPr>
          </a:p>
          <a:p>
            <a:pPr marL="0" lvl="0" indent="0" algn="l" rtl="0">
              <a:lnSpc>
                <a:spcPct val="115000"/>
              </a:lnSpc>
              <a:spcBef>
                <a:spcPts val="1200"/>
              </a:spcBef>
              <a:spcAft>
                <a:spcPts val="1200"/>
              </a:spcAft>
              <a:buNone/>
            </a:pPr>
            <a:r>
              <a:rPr lang="en-GB" sz="1800" i="1">
                <a:latin typeface="Roboto Light"/>
                <a:ea typeface="Roboto Light"/>
                <a:cs typeface="Roboto Light"/>
                <a:sym typeface="Roboto Light"/>
              </a:rPr>
              <a:t>75+ and 18-24 year olds rent the least bikes</a:t>
            </a:r>
            <a:endParaRPr sz="1300">
              <a:solidFill>
                <a:schemeClr val="accent1"/>
              </a:solidFill>
              <a:latin typeface="Lato"/>
              <a:ea typeface="Lato"/>
              <a:cs typeface="Lato"/>
              <a:sym typeface="Lato"/>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5"/>
          <p:cNvSpPr txBox="1"/>
          <p:nvPr/>
        </p:nvSpPr>
        <p:spPr>
          <a:xfrm>
            <a:off x="226350" y="0"/>
            <a:ext cx="8515800" cy="908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000">
                <a:latin typeface="Oswald Medium"/>
                <a:ea typeface="Oswald Medium"/>
                <a:cs typeface="Oswald Medium"/>
                <a:sym typeface="Oswald Medium"/>
              </a:rPr>
              <a:t>4. </a:t>
            </a:r>
            <a:r>
              <a:rPr lang="en-GB" sz="2000">
                <a:latin typeface="Oswald"/>
                <a:ea typeface="Oswald"/>
                <a:cs typeface="Oswald"/>
                <a:sym typeface="Oswald"/>
              </a:rPr>
              <a:t>How does bike rental vary across the two user groups (one-time users vs long-term subscribers) on different days of the week?</a:t>
            </a:r>
            <a:r>
              <a:rPr lang="en-GB" sz="2700">
                <a:latin typeface="Oswald"/>
                <a:ea typeface="Oswald"/>
                <a:cs typeface="Oswald"/>
                <a:sym typeface="Oswald"/>
              </a:rPr>
              <a:t> </a:t>
            </a:r>
            <a:endParaRPr sz="1300">
              <a:solidFill>
                <a:schemeClr val="accent1"/>
              </a:solidFill>
              <a:latin typeface="Lato"/>
              <a:ea typeface="Lato"/>
              <a:cs typeface="Lato"/>
              <a:sym typeface="Lato"/>
            </a:endParaRPr>
          </a:p>
        </p:txBody>
      </p:sp>
      <p:pic>
        <p:nvPicPr>
          <p:cNvPr id="230" name="Google Shape;230;p25"/>
          <p:cNvPicPr preferRelativeResize="0"/>
          <p:nvPr/>
        </p:nvPicPr>
        <p:blipFill>
          <a:blip r:embed="rId3">
            <a:alphaModFix/>
          </a:blip>
          <a:stretch>
            <a:fillRect/>
          </a:stretch>
        </p:blipFill>
        <p:spPr>
          <a:xfrm>
            <a:off x="152400" y="1207625"/>
            <a:ext cx="6169506" cy="3783476"/>
          </a:xfrm>
          <a:prstGeom prst="rect">
            <a:avLst/>
          </a:prstGeom>
          <a:noFill/>
          <a:ln>
            <a:noFill/>
          </a:ln>
        </p:spPr>
      </p:pic>
      <p:sp>
        <p:nvSpPr>
          <p:cNvPr id="231" name="Google Shape;231;p25"/>
          <p:cNvSpPr txBox="1"/>
          <p:nvPr/>
        </p:nvSpPr>
        <p:spPr>
          <a:xfrm>
            <a:off x="6863650" y="1301425"/>
            <a:ext cx="2303100" cy="3004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1600" i="1">
                <a:latin typeface="Roboto Light"/>
                <a:ea typeface="Roboto Light"/>
                <a:cs typeface="Roboto Light"/>
                <a:sym typeface="Roboto Light"/>
              </a:rPr>
              <a:t>Citi Bike customer base is predominantly made up of long-term subscribers</a:t>
            </a:r>
            <a:endParaRPr sz="1600" i="1">
              <a:latin typeface="Roboto Light"/>
              <a:ea typeface="Roboto Light"/>
              <a:cs typeface="Roboto Light"/>
              <a:sym typeface="Roboto Light"/>
            </a:endParaRPr>
          </a:p>
          <a:p>
            <a:pPr marL="0" lvl="0" indent="0" algn="l" rtl="0">
              <a:lnSpc>
                <a:spcPct val="115000"/>
              </a:lnSpc>
              <a:spcBef>
                <a:spcPts val="1200"/>
              </a:spcBef>
              <a:spcAft>
                <a:spcPts val="0"/>
              </a:spcAft>
              <a:buNone/>
            </a:pPr>
            <a:r>
              <a:rPr lang="en-GB" sz="1600" i="1">
                <a:latin typeface="Roboto Light"/>
                <a:ea typeface="Roboto Light"/>
                <a:cs typeface="Roboto Light"/>
                <a:sym typeface="Roboto Light"/>
              </a:rPr>
              <a:t>Subscribers are more active during the week</a:t>
            </a:r>
            <a:endParaRPr sz="1600" i="1">
              <a:latin typeface="Roboto Light"/>
              <a:ea typeface="Roboto Light"/>
              <a:cs typeface="Roboto Light"/>
              <a:sym typeface="Roboto Light"/>
            </a:endParaRPr>
          </a:p>
          <a:p>
            <a:pPr marL="0" lvl="0" indent="0" algn="l" rtl="0">
              <a:lnSpc>
                <a:spcPct val="115000"/>
              </a:lnSpc>
              <a:spcBef>
                <a:spcPts val="1200"/>
              </a:spcBef>
              <a:spcAft>
                <a:spcPts val="1200"/>
              </a:spcAft>
              <a:buNone/>
            </a:pPr>
            <a:r>
              <a:rPr lang="en-GB" sz="1600" i="1">
                <a:latin typeface="Roboto Light"/>
                <a:ea typeface="Roboto Light"/>
                <a:cs typeface="Roboto Light"/>
                <a:sym typeface="Roboto Light"/>
              </a:rPr>
              <a:t>One-time users are more active on weekends</a:t>
            </a:r>
            <a:endParaRPr sz="1300">
              <a:solidFill>
                <a:schemeClr val="accent1"/>
              </a:solidFill>
              <a:latin typeface="Lato"/>
              <a:ea typeface="Lato"/>
              <a:cs typeface="Lato"/>
              <a:sym typeface="Lato"/>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6"/>
          <p:cNvSpPr txBox="1"/>
          <p:nvPr/>
        </p:nvSpPr>
        <p:spPr>
          <a:xfrm>
            <a:off x="288600" y="79225"/>
            <a:ext cx="85668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000">
                <a:latin typeface="Oswald Medium"/>
                <a:ea typeface="Oswald Medium"/>
                <a:cs typeface="Oswald Medium"/>
                <a:sym typeface="Oswald Medium"/>
              </a:rPr>
              <a:t>5. </a:t>
            </a:r>
            <a:r>
              <a:rPr lang="en-GB" sz="2000">
                <a:latin typeface="Oswald"/>
                <a:ea typeface="Oswald"/>
                <a:cs typeface="Oswald"/>
                <a:sym typeface="Oswald"/>
              </a:rPr>
              <a:t>Does the factor of age impact the average bike trip duration? </a:t>
            </a:r>
            <a:endParaRPr sz="2000">
              <a:solidFill>
                <a:schemeClr val="accent1"/>
              </a:solidFill>
              <a:latin typeface="Lato"/>
              <a:ea typeface="Lato"/>
              <a:cs typeface="Lato"/>
              <a:sym typeface="Lato"/>
            </a:endParaRPr>
          </a:p>
        </p:txBody>
      </p:sp>
      <p:pic>
        <p:nvPicPr>
          <p:cNvPr id="237" name="Google Shape;237;p26"/>
          <p:cNvPicPr preferRelativeResize="0"/>
          <p:nvPr/>
        </p:nvPicPr>
        <p:blipFill>
          <a:blip r:embed="rId3">
            <a:alphaModFix/>
          </a:blip>
          <a:stretch>
            <a:fillRect/>
          </a:stretch>
        </p:blipFill>
        <p:spPr>
          <a:xfrm>
            <a:off x="152400" y="724225"/>
            <a:ext cx="6439650" cy="4266875"/>
          </a:xfrm>
          <a:prstGeom prst="rect">
            <a:avLst/>
          </a:prstGeom>
          <a:noFill/>
          <a:ln>
            <a:noFill/>
          </a:ln>
        </p:spPr>
      </p:pic>
      <p:sp>
        <p:nvSpPr>
          <p:cNvPr id="238" name="Google Shape;238;p26"/>
          <p:cNvSpPr txBox="1"/>
          <p:nvPr/>
        </p:nvSpPr>
        <p:spPr>
          <a:xfrm>
            <a:off x="6875100" y="1148650"/>
            <a:ext cx="1980300" cy="1098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GB" sz="1800" i="1">
                <a:latin typeface="Roboto Light"/>
                <a:ea typeface="Roboto Light"/>
                <a:cs typeface="Roboto Light"/>
                <a:sym typeface="Roboto Light"/>
              </a:rPr>
              <a:t>No relationship between user age and trip duration</a:t>
            </a:r>
            <a:endParaRPr sz="1300">
              <a:solidFill>
                <a:schemeClr val="accent1"/>
              </a:solidFill>
              <a:latin typeface="Lato"/>
              <a:ea typeface="Lato"/>
              <a:cs typeface="Lato"/>
              <a:sym typeface="Lato"/>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2"/>
        <p:cNvGrpSpPr/>
        <p:nvPr/>
      </p:nvGrpSpPr>
      <p:grpSpPr>
        <a:xfrm>
          <a:off x="0" y="0"/>
          <a:ext cx="0" cy="0"/>
          <a:chOff x="0" y="0"/>
          <a:chExt cx="0" cy="0"/>
        </a:xfrm>
      </p:grpSpPr>
      <p:sp>
        <p:nvSpPr>
          <p:cNvPr id="243" name="Google Shape;243;p27"/>
          <p:cNvSpPr txBox="1">
            <a:spLocks noGrp="1"/>
          </p:cNvSpPr>
          <p:nvPr>
            <p:ph type="body" idx="4294967295"/>
          </p:nvPr>
        </p:nvSpPr>
        <p:spPr>
          <a:xfrm>
            <a:off x="4419225" y="561100"/>
            <a:ext cx="3655800" cy="876000"/>
          </a:xfrm>
          <a:prstGeom prst="rect">
            <a:avLst/>
          </a:prstGeom>
          <a:solidFill>
            <a:srgbClr val="008FFF"/>
          </a:solidFill>
        </p:spPr>
        <p:txBody>
          <a:bodyPr spcFirstLastPara="1" wrap="square" lIns="91425" tIns="91425" rIns="91425" bIns="91425" anchor="t" anchorCtr="0">
            <a:noAutofit/>
          </a:bodyPr>
          <a:lstStyle/>
          <a:p>
            <a:pPr marL="0" lvl="0" indent="0" algn="l" rtl="0">
              <a:spcBef>
                <a:spcPts val="0"/>
              </a:spcBef>
              <a:spcAft>
                <a:spcPts val="1600"/>
              </a:spcAft>
              <a:buNone/>
            </a:pPr>
            <a:r>
              <a:rPr lang="en-GB" sz="5200">
                <a:solidFill>
                  <a:schemeClr val="dk2"/>
                </a:solidFill>
              </a:rPr>
              <a:t>SUMMARY</a:t>
            </a:r>
            <a:endParaRPr sz="5200">
              <a:solidFill>
                <a:schemeClr val="dk2"/>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28"/>
          <p:cNvSpPr txBox="1"/>
          <p:nvPr/>
        </p:nvSpPr>
        <p:spPr>
          <a:xfrm>
            <a:off x="212250" y="1369325"/>
            <a:ext cx="8719500" cy="3533700"/>
          </a:xfrm>
          <a:prstGeom prst="rect">
            <a:avLst/>
          </a:prstGeom>
          <a:noFill/>
          <a:ln>
            <a:noFill/>
          </a:ln>
        </p:spPr>
        <p:txBody>
          <a:bodyPr spcFirstLastPara="1" wrap="square" lIns="91425" tIns="91425" rIns="91425" bIns="91425" anchor="t" anchorCtr="0">
            <a:spAutoFit/>
          </a:bodyPr>
          <a:lstStyle/>
          <a:p>
            <a:pPr marL="457200" lvl="0" indent="-342900" algn="l" rtl="0">
              <a:lnSpc>
                <a:spcPct val="115000"/>
              </a:lnSpc>
              <a:spcBef>
                <a:spcPts val="0"/>
              </a:spcBef>
              <a:spcAft>
                <a:spcPts val="0"/>
              </a:spcAft>
              <a:buSzPts val="1800"/>
              <a:buFont typeface="Roboto Light"/>
              <a:buChar char="●"/>
            </a:pPr>
            <a:r>
              <a:rPr lang="en-GB" sz="1817" b="1" i="1">
                <a:latin typeface="Roboto"/>
                <a:ea typeface="Roboto"/>
                <a:cs typeface="Roboto"/>
                <a:sym typeface="Roboto"/>
              </a:rPr>
              <a:t>Top 5 pick-up locations for bikes:</a:t>
            </a:r>
            <a:r>
              <a:rPr lang="en-GB" sz="1817" i="1">
                <a:latin typeface="Roboto Light"/>
                <a:ea typeface="Roboto Light"/>
                <a:cs typeface="Roboto Light"/>
                <a:sym typeface="Roboto Light"/>
              </a:rPr>
              <a:t> </a:t>
            </a:r>
            <a:r>
              <a:rPr lang="en-GB" sz="1700" i="1">
                <a:latin typeface="Roboto Light"/>
                <a:ea typeface="Roboto Light"/>
                <a:cs typeface="Roboto Light"/>
                <a:sym typeface="Roboto Light"/>
              </a:rPr>
              <a:t/>
            </a:r>
            <a:br>
              <a:rPr lang="en-GB" sz="1700" i="1">
                <a:latin typeface="Roboto Light"/>
                <a:ea typeface="Roboto Light"/>
                <a:cs typeface="Roboto Light"/>
                <a:sym typeface="Roboto Light"/>
              </a:rPr>
            </a:br>
            <a:r>
              <a:rPr lang="en-GB" sz="1558" i="1">
                <a:latin typeface="Roboto Light"/>
                <a:ea typeface="Roboto Light"/>
                <a:cs typeface="Roboto Light"/>
                <a:sym typeface="Roboto Light"/>
              </a:rPr>
              <a:t>Grove St Path, Exchange Place, Sip Ave, Hamilton Park, &amp; Morris Canal</a:t>
            </a:r>
            <a:r>
              <a:rPr lang="en-GB" sz="1300" i="1">
                <a:latin typeface="Roboto Light"/>
                <a:ea typeface="Roboto Light"/>
                <a:cs typeface="Roboto Light"/>
                <a:sym typeface="Roboto Light"/>
              </a:rPr>
              <a:t/>
            </a:r>
            <a:br>
              <a:rPr lang="en-GB" sz="1300" i="1">
                <a:latin typeface="Roboto Light"/>
                <a:ea typeface="Roboto Light"/>
                <a:cs typeface="Roboto Light"/>
                <a:sym typeface="Roboto Light"/>
              </a:rPr>
            </a:br>
            <a:endParaRPr sz="1300" i="1">
              <a:latin typeface="Roboto Light"/>
              <a:ea typeface="Roboto Light"/>
              <a:cs typeface="Roboto Light"/>
              <a:sym typeface="Roboto Light"/>
            </a:endParaRPr>
          </a:p>
          <a:p>
            <a:pPr marL="457200" lvl="0" indent="-368300" algn="l" rtl="0">
              <a:lnSpc>
                <a:spcPct val="115000"/>
              </a:lnSpc>
              <a:spcBef>
                <a:spcPts val="0"/>
              </a:spcBef>
              <a:spcAft>
                <a:spcPts val="0"/>
              </a:spcAft>
              <a:buSzPts val="2200"/>
              <a:buFont typeface="Roboto Light"/>
              <a:buChar char="●"/>
            </a:pPr>
            <a:r>
              <a:rPr lang="en-GB" sz="1829" b="1" i="1">
                <a:latin typeface="Roboto"/>
                <a:ea typeface="Roboto"/>
                <a:cs typeface="Roboto"/>
                <a:sym typeface="Roboto"/>
              </a:rPr>
              <a:t>Customer base: </a:t>
            </a:r>
            <a:endParaRPr sz="1700" b="1" i="1">
              <a:latin typeface="Roboto"/>
              <a:ea typeface="Roboto"/>
              <a:cs typeface="Roboto"/>
              <a:sym typeface="Roboto"/>
            </a:endParaRPr>
          </a:p>
          <a:p>
            <a:pPr marL="914400" lvl="1" indent="-327536" algn="l" rtl="0">
              <a:lnSpc>
                <a:spcPct val="115000"/>
              </a:lnSpc>
              <a:spcBef>
                <a:spcPts val="0"/>
              </a:spcBef>
              <a:spcAft>
                <a:spcPts val="0"/>
              </a:spcAft>
              <a:buSzPts val="1558"/>
              <a:buFont typeface="Roboto Light"/>
              <a:buChar char="○"/>
            </a:pPr>
            <a:r>
              <a:rPr lang="en-GB" sz="1558" i="1">
                <a:latin typeface="Roboto Light"/>
                <a:ea typeface="Roboto Light"/>
                <a:cs typeface="Roboto Light"/>
                <a:sym typeface="Roboto Light"/>
              </a:rPr>
              <a:t>Mostly long-term subscribers who are more active during the week</a:t>
            </a:r>
            <a:endParaRPr sz="1558" i="1">
              <a:latin typeface="Roboto Light"/>
              <a:ea typeface="Roboto Light"/>
              <a:cs typeface="Roboto Light"/>
              <a:sym typeface="Roboto Light"/>
            </a:endParaRPr>
          </a:p>
          <a:p>
            <a:pPr marL="914400" lvl="1" indent="-311150" algn="l" rtl="0">
              <a:lnSpc>
                <a:spcPct val="115000"/>
              </a:lnSpc>
              <a:spcBef>
                <a:spcPts val="0"/>
              </a:spcBef>
              <a:spcAft>
                <a:spcPts val="0"/>
              </a:spcAft>
              <a:buSzPts val="1300"/>
              <a:buFont typeface="Roboto Light"/>
              <a:buChar char="○"/>
            </a:pPr>
            <a:r>
              <a:rPr lang="en-GB" sz="1558" i="1">
                <a:latin typeface="Roboto Light"/>
                <a:ea typeface="Roboto Light"/>
                <a:cs typeface="Roboto Light"/>
                <a:sym typeface="Roboto Light"/>
              </a:rPr>
              <a:t>One-time users more active at weekends</a:t>
            </a:r>
            <a:endParaRPr sz="1558" i="1">
              <a:latin typeface="Roboto Light"/>
              <a:ea typeface="Roboto Light"/>
              <a:cs typeface="Roboto Light"/>
              <a:sym typeface="Roboto Light"/>
            </a:endParaRPr>
          </a:p>
          <a:p>
            <a:pPr marL="914400" lvl="1" indent="-317500" algn="l" rtl="0">
              <a:lnSpc>
                <a:spcPct val="115000"/>
              </a:lnSpc>
              <a:spcBef>
                <a:spcPts val="0"/>
              </a:spcBef>
              <a:spcAft>
                <a:spcPts val="0"/>
              </a:spcAft>
              <a:buSzPts val="1400"/>
              <a:buFont typeface="Roboto Light"/>
              <a:buChar char="○"/>
            </a:pPr>
            <a:r>
              <a:rPr lang="en-GB" sz="1585" i="1">
                <a:latin typeface="Roboto Light"/>
                <a:ea typeface="Roboto Light"/>
                <a:cs typeface="Roboto Light"/>
                <a:sym typeface="Roboto Light"/>
              </a:rPr>
              <a:t>Most bikes rented by 35-44 year olds</a:t>
            </a:r>
            <a:r>
              <a:rPr lang="en-GB" sz="1300" b="1" i="1">
                <a:latin typeface="Roboto"/>
                <a:ea typeface="Roboto"/>
                <a:cs typeface="Roboto"/>
                <a:sym typeface="Roboto"/>
              </a:rPr>
              <a:t/>
            </a:r>
            <a:br>
              <a:rPr lang="en-GB" sz="1300" b="1" i="1">
                <a:latin typeface="Roboto"/>
                <a:ea typeface="Roboto"/>
                <a:cs typeface="Roboto"/>
                <a:sym typeface="Roboto"/>
              </a:rPr>
            </a:br>
            <a:r>
              <a:rPr lang="en-GB" sz="1300" i="1">
                <a:latin typeface="Roboto Light"/>
                <a:ea typeface="Roboto Light"/>
                <a:cs typeface="Roboto Light"/>
                <a:sym typeface="Roboto Light"/>
              </a:rPr>
              <a:t/>
            </a:r>
            <a:br>
              <a:rPr lang="en-GB" sz="1300" i="1">
                <a:latin typeface="Roboto Light"/>
                <a:ea typeface="Roboto Light"/>
                <a:cs typeface="Roboto Light"/>
                <a:sym typeface="Roboto Light"/>
              </a:rPr>
            </a:br>
            <a:endParaRPr sz="1300" i="1">
              <a:latin typeface="Roboto Light"/>
              <a:ea typeface="Roboto Light"/>
              <a:cs typeface="Roboto Light"/>
              <a:sym typeface="Roboto Light"/>
            </a:endParaRPr>
          </a:p>
          <a:p>
            <a:pPr marL="457200" lvl="0" indent="-344743" algn="l" rtl="0">
              <a:lnSpc>
                <a:spcPct val="115000"/>
              </a:lnSpc>
              <a:spcBef>
                <a:spcPts val="0"/>
              </a:spcBef>
              <a:spcAft>
                <a:spcPts val="0"/>
              </a:spcAft>
              <a:buSzPts val="1829"/>
              <a:buFont typeface="Roboto Light"/>
              <a:buChar char="●"/>
            </a:pPr>
            <a:r>
              <a:rPr lang="en-GB" sz="1829" i="1">
                <a:latin typeface="Roboto Light"/>
                <a:ea typeface="Roboto Light"/>
                <a:cs typeface="Roboto Light"/>
                <a:sym typeface="Roboto Light"/>
              </a:rPr>
              <a:t> </a:t>
            </a:r>
            <a:r>
              <a:rPr lang="en-GB" sz="1829" b="1" i="1">
                <a:latin typeface="Roboto"/>
                <a:ea typeface="Roboto"/>
                <a:cs typeface="Roboto"/>
                <a:sym typeface="Roboto"/>
              </a:rPr>
              <a:t>Citi Bike customer behavior:</a:t>
            </a:r>
            <a:endParaRPr sz="1829" b="1" i="1">
              <a:latin typeface="Roboto"/>
              <a:ea typeface="Roboto"/>
              <a:cs typeface="Roboto"/>
              <a:sym typeface="Roboto"/>
            </a:endParaRPr>
          </a:p>
          <a:p>
            <a:pPr marL="914400" lvl="1" indent="-327536" algn="l" rtl="0">
              <a:lnSpc>
                <a:spcPct val="115000"/>
              </a:lnSpc>
              <a:spcBef>
                <a:spcPts val="0"/>
              </a:spcBef>
              <a:spcAft>
                <a:spcPts val="0"/>
              </a:spcAft>
              <a:buSzPts val="1558"/>
              <a:buFont typeface="Roboto Light"/>
              <a:buChar char="○"/>
            </a:pPr>
            <a:r>
              <a:rPr lang="en-GB" sz="1558" i="1">
                <a:latin typeface="Roboto Light"/>
                <a:ea typeface="Roboto Light"/>
                <a:cs typeface="Roboto Light"/>
                <a:sym typeface="Roboto Light"/>
              </a:rPr>
              <a:t>75+ year olds take longest average trips, but rent the least bikes </a:t>
            </a:r>
            <a:endParaRPr sz="1558" i="1">
              <a:latin typeface="Roboto Light"/>
              <a:ea typeface="Roboto Light"/>
              <a:cs typeface="Roboto Light"/>
              <a:sym typeface="Roboto Light"/>
            </a:endParaRPr>
          </a:p>
          <a:p>
            <a:pPr marL="914400" lvl="1" indent="-327536" algn="l" rtl="0">
              <a:lnSpc>
                <a:spcPct val="115000"/>
              </a:lnSpc>
              <a:spcBef>
                <a:spcPts val="0"/>
              </a:spcBef>
              <a:spcAft>
                <a:spcPts val="0"/>
              </a:spcAft>
              <a:buSzPts val="1558"/>
              <a:buFont typeface="Roboto Light"/>
              <a:buChar char="○"/>
            </a:pPr>
            <a:r>
              <a:rPr lang="en-GB" sz="1558" i="1">
                <a:latin typeface="Roboto Light"/>
                <a:ea typeface="Roboto Light"/>
                <a:cs typeface="Roboto Light"/>
                <a:sym typeface="Roboto Light"/>
              </a:rPr>
              <a:t>65-74 and 25-34 year olds take the shortest trips on average</a:t>
            </a:r>
            <a:endParaRPr sz="1200">
              <a:solidFill>
                <a:schemeClr val="accent1"/>
              </a:solidFill>
              <a:latin typeface="Lato"/>
              <a:ea typeface="Lato"/>
              <a:cs typeface="Lato"/>
              <a:sym typeface="Lato"/>
            </a:endParaRPr>
          </a:p>
        </p:txBody>
      </p:sp>
      <p:sp>
        <p:nvSpPr>
          <p:cNvPr id="249" name="Google Shape;249;p28"/>
          <p:cNvSpPr txBox="1"/>
          <p:nvPr/>
        </p:nvSpPr>
        <p:spPr>
          <a:xfrm>
            <a:off x="752575" y="673350"/>
            <a:ext cx="83121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2000" b="1">
                <a:solidFill>
                  <a:schemeClr val="dk2"/>
                </a:solidFill>
                <a:latin typeface="Lato"/>
                <a:ea typeface="Lato"/>
                <a:cs typeface="Lato"/>
                <a:sym typeface="Lato"/>
              </a:rPr>
              <a:t>SUMMARY POINTS</a:t>
            </a:r>
            <a:endParaRPr sz="2000" b="1">
              <a:solidFill>
                <a:schemeClr val="dk2"/>
              </a:solidFill>
              <a:latin typeface="Lato"/>
              <a:ea typeface="Lato"/>
              <a:cs typeface="Lato"/>
              <a:sym typeface="Lato"/>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9"/>
          <p:cNvSpPr txBox="1"/>
          <p:nvPr/>
        </p:nvSpPr>
        <p:spPr>
          <a:xfrm>
            <a:off x="820475" y="1488175"/>
            <a:ext cx="7944300" cy="1714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sz="1800" b="1" i="1">
                <a:latin typeface="Roboto"/>
                <a:ea typeface="Roboto"/>
                <a:cs typeface="Roboto"/>
                <a:sym typeface="Roboto"/>
              </a:rPr>
              <a:t>Product recommendations:</a:t>
            </a:r>
            <a:endParaRPr sz="1800" b="1" i="1">
              <a:latin typeface="Roboto"/>
              <a:ea typeface="Roboto"/>
              <a:cs typeface="Roboto"/>
              <a:sym typeface="Roboto"/>
            </a:endParaRPr>
          </a:p>
          <a:p>
            <a:pPr marL="457200" lvl="0" indent="-342900" algn="l" rtl="0">
              <a:lnSpc>
                <a:spcPct val="115000"/>
              </a:lnSpc>
              <a:spcBef>
                <a:spcPts val="1200"/>
              </a:spcBef>
              <a:spcAft>
                <a:spcPts val="0"/>
              </a:spcAft>
              <a:buSzPts val="1800"/>
              <a:buFont typeface="Roboto Light"/>
              <a:buChar char="●"/>
            </a:pPr>
            <a:r>
              <a:rPr lang="en-GB" sz="1800" i="1">
                <a:latin typeface="Roboto Light"/>
                <a:ea typeface="Roboto Light"/>
                <a:cs typeface="Roboto Light"/>
                <a:sym typeface="Roboto Light"/>
              </a:rPr>
              <a:t>Install more bikes at </a:t>
            </a:r>
            <a:r>
              <a:rPr lang="en-GB" sz="1635" i="1">
                <a:latin typeface="Roboto Light"/>
                <a:ea typeface="Roboto Light"/>
                <a:cs typeface="Roboto Light"/>
                <a:sym typeface="Roboto Light"/>
              </a:rPr>
              <a:t>Grove St Path, Sip Ave, Newport Path, Newark Ave, Van Vorst Park. </a:t>
            </a:r>
            <a:endParaRPr sz="1635" i="1">
              <a:latin typeface="Roboto Light"/>
              <a:ea typeface="Roboto Light"/>
              <a:cs typeface="Roboto Light"/>
              <a:sym typeface="Roboto Light"/>
            </a:endParaRPr>
          </a:p>
          <a:p>
            <a:pPr marL="0" lvl="0" indent="0" algn="l" rtl="0">
              <a:lnSpc>
                <a:spcPct val="115000"/>
              </a:lnSpc>
              <a:spcBef>
                <a:spcPts val="1200"/>
              </a:spcBef>
              <a:spcAft>
                <a:spcPts val="0"/>
              </a:spcAft>
              <a:buNone/>
            </a:pPr>
            <a:r>
              <a:rPr lang="en-GB" sz="1800" b="1" i="1">
                <a:latin typeface="Roboto"/>
                <a:ea typeface="Roboto"/>
                <a:cs typeface="Roboto"/>
                <a:sym typeface="Roboto"/>
              </a:rPr>
              <a:t>Marketing recommendations:</a:t>
            </a:r>
            <a:endParaRPr sz="1800" b="1" i="1">
              <a:latin typeface="Roboto"/>
              <a:ea typeface="Roboto"/>
              <a:cs typeface="Roboto"/>
              <a:sym typeface="Roboto"/>
            </a:endParaRPr>
          </a:p>
          <a:p>
            <a:pPr marL="457200" lvl="0" indent="-342900" algn="l" rtl="0">
              <a:lnSpc>
                <a:spcPct val="115000"/>
              </a:lnSpc>
              <a:spcBef>
                <a:spcPts val="1200"/>
              </a:spcBef>
              <a:spcAft>
                <a:spcPts val="0"/>
              </a:spcAft>
              <a:buSzPts val="1800"/>
              <a:buFont typeface="Roboto Light"/>
              <a:buChar char="●"/>
            </a:pPr>
            <a:r>
              <a:rPr lang="en-GB" sz="1800" i="1">
                <a:latin typeface="Roboto Light"/>
                <a:ea typeface="Roboto Light"/>
                <a:cs typeface="Roboto Light"/>
                <a:sym typeface="Roboto Light"/>
              </a:rPr>
              <a:t>The Citi Bike customer base is mostly long-term subscribers aged between 35-44, who are most active during the week. This tells us that they are probably people who live in New York and use NY Citi Bikes to commute. Marketing and advertising campaigns should therefore target this particular demographic. </a:t>
            </a:r>
            <a:endParaRPr sz="1300">
              <a:solidFill>
                <a:schemeClr val="accent1"/>
              </a:solidFill>
              <a:latin typeface="Lato"/>
              <a:ea typeface="Lato"/>
              <a:cs typeface="Lato"/>
              <a:sym typeface="Lato"/>
            </a:endParaRPr>
          </a:p>
        </p:txBody>
      </p:sp>
      <p:sp>
        <p:nvSpPr>
          <p:cNvPr id="255" name="Google Shape;255;p29"/>
          <p:cNvSpPr txBox="1"/>
          <p:nvPr/>
        </p:nvSpPr>
        <p:spPr>
          <a:xfrm>
            <a:off x="820475" y="503600"/>
            <a:ext cx="8414100" cy="723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3500" b="1">
                <a:solidFill>
                  <a:schemeClr val="accent1"/>
                </a:solidFill>
                <a:latin typeface="Lato"/>
                <a:ea typeface="Lato"/>
                <a:cs typeface="Lato"/>
                <a:sym typeface="Lato"/>
              </a:rPr>
              <a:t>Actions</a:t>
            </a:r>
            <a:r>
              <a:rPr lang="en-GB" sz="3100" b="1">
                <a:solidFill>
                  <a:schemeClr val="accent1"/>
                </a:solidFill>
                <a:latin typeface="Lato"/>
                <a:ea typeface="Lato"/>
                <a:cs typeface="Lato"/>
                <a:sym typeface="Lato"/>
              </a:rPr>
              <a:t> </a:t>
            </a:r>
            <a:endParaRPr sz="3100" b="1">
              <a:solidFill>
                <a:schemeClr val="accent1"/>
              </a:solidFill>
              <a:latin typeface="Lato"/>
              <a:ea typeface="Lato"/>
              <a:cs typeface="Lato"/>
              <a:sym typeface="Lato"/>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9"/>
        <p:cNvGrpSpPr/>
        <p:nvPr/>
      </p:nvGrpSpPr>
      <p:grpSpPr>
        <a:xfrm>
          <a:off x="0" y="0"/>
          <a:ext cx="0" cy="0"/>
          <a:chOff x="0" y="0"/>
          <a:chExt cx="0" cy="0"/>
        </a:xfrm>
      </p:grpSpPr>
      <p:sp>
        <p:nvSpPr>
          <p:cNvPr id="260" name="Google Shape;260;p30"/>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4800">
                <a:solidFill>
                  <a:srgbClr val="000000"/>
                </a:solidFill>
              </a:rPr>
              <a:t>Thank you.</a:t>
            </a:r>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383</Words>
  <Application>Microsoft Office PowerPoint</Application>
  <PresentationFormat>On-screen Show (16:9)</PresentationFormat>
  <Paragraphs>63</Paragraphs>
  <Slides>13</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Raleway</vt:lpstr>
      <vt:lpstr>Oswald</vt:lpstr>
      <vt:lpstr>Arial</vt:lpstr>
      <vt:lpstr>Roboto Light</vt:lpstr>
      <vt:lpstr>Lato</vt:lpstr>
      <vt:lpstr>Oswald Medium</vt:lpstr>
      <vt:lpstr>Roboto</vt:lpstr>
      <vt:lpstr>Roboto ExtraLight</vt:lpstr>
      <vt:lpstr>Streamline</vt:lpstr>
      <vt:lpstr>Citi Bike Data Analysis </vt:lpstr>
      <vt:lpstr>PROJECT GOAL</vt:lpstr>
      <vt:lpstr>Key Questions</vt:lpstr>
      <vt:lpstr>FINDING AND INSIGHTS. </vt:lpstr>
      <vt:lpstr>What are the most popular Citi Bike pick-up locations?</vt:lpstr>
      <vt:lpstr>2. How does the average trip duration vary across different age groups?</vt:lpstr>
      <vt:lpstr>3. Which age group rents the most bikes?</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Citi Bike Data Analysis </dc:title>
  <dc:creator>hp</dc:creator>
  <cp:lastModifiedBy>hp</cp:lastModifiedBy>
  <cp:revision>1</cp:revision>
  <dcterms:modified xsi:type="dcterms:W3CDTF">2025-03-08T08:32:22Z</dcterms:modified>
</cp:coreProperties>
</file>